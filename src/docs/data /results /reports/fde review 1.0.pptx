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86" r:id="rId2"/>
    <p:sldId id="288" r:id="rId3"/>
    <p:sldId id="287" r:id="rId4"/>
    <p:sldId id="289" r:id="rId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p:cViewPr varScale="1">
        <p:scale>
          <a:sx n="81" d="100"/>
          <a:sy n="81" d="100"/>
        </p:scale>
        <p:origin x="1498"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8/24/2026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pPr/>
              <a:t>8/24/2026</a:t>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5425" y="1036792"/>
            <a:ext cx="6153150" cy="176589"/>
          </a:xfrm>
        </p:spPr>
        <p:txBody>
          <a:bodyPr>
            <a:normAutofit fontScale="90000"/>
          </a:bodyPr>
          <a:lstStyle/>
          <a:p>
            <a:pPr>
              <a:defRPr/>
            </a:pP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000" dirty="0">
                <a:latin typeface="Times New Roman" pitchFamily="18" charset="0"/>
                <a:cs typeface="Times New Roman" pitchFamily="18" charset="0"/>
              </a:rPr>
              <a:t>	</a:t>
            </a:r>
            <a:r>
              <a:rPr lang="en-US" sz="2700" b="1" dirty="0">
                <a:solidFill>
                  <a:schemeClr val="accent1"/>
                </a:solidFill>
                <a:latin typeface="Times New Roman" pitchFamily="18" charset="0"/>
                <a:cs typeface="Times New Roman" pitchFamily="18" charset="0"/>
              </a:rPr>
              <a:t>STOCK MARKET DATA PIPELINE</a:t>
            </a:r>
            <a:br>
              <a:rPr lang="en-US" sz="2200" b="1" dirty="0">
                <a:latin typeface="Times New Roman" pitchFamily="18" charset="0"/>
                <a:cs typeface="Times New Roman" pitchFamily="18" charset="0"/>
              </a:rPr>
            </a:br>
            <a:br>
              <a:rPr lang="en-US" sz="135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t>
            </a:r>
            <a:br>
              <a:rPr lang="en-US" b="1" dirty="0"/>
            </a:br>
            <a:endParaRPr lang="en-US"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1428750" y="1213381"/>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itchFamily="18" charset="0"/>
              <a:cs typeface="Times New Roman" pitchFamily="18" charset="0"/>
            </a:endParaRPr>
          </a:p>
          <a:p>
            <a:pPr>
              <a:lnSpc>
                <a:spcPct val="80000"/>
              </a:lnSpc>
              <a:defRPr/>
            </a:pPr>
            <a:r>
              <a:rPr lang="en-US" sz="8000" b="1" dirty="0">
                <a:solidFill>
                  <a:schemeClr val="tx1"/>
                </a:solidFill>
                <a:latin typeface="Times New Roman" pitchFamily="18" charset="0"/>
                <a:cs typeface="Times New Roman" pitchFamily="18" charset="0"/>
              </a:rPr>
              <a:t>REVIEW – 1</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r>
              <a:rPr lang="en-US" sz="6400" b="1" dirty="0">
                <a:solidFill>
                  <a:schemeClr val="tx1"/>
                </a:solidFill>
                <a:latin typeface="Times New Roman" pitchFamily="18" charset="0"/>
                <a:cs typeface="Times New Roman" pitchFamily="18" charset="0"/>
              </a:rPr>
              <a:t> </a:t>
            </a:r>
            <a:r>
              <a:rPr lang="en-US" sz="7200" b="1" dirty="0">
                <a:solidFill>
                  <a:schemeClr val="tx1"/>
                </a:solidFill>
                <a:latin typeface="Times New Roman" pitchFamily="18" charset="0"/>
                <a:cs typeface="Times New Roman" pitchFamily="18" charset="0"/>
              </a:rPr>
              <a:t>Team members</a:t>
            </a:r>
          </a:p>
          <a:p>
            <a:pPr>
              <a:lnSpc>
                <a:spcPct val="80000"/>
              </a:lnSpc>
              <a:defRPr/>
            </a:pPr>
            <a:endParaRPr lang="en-US" sz="6400" b="1" dirty="0">
              <a:solidFill>
                <a:schemeClr val="tx1"/>
              </a:solidFill>
              <a:latin typeface="Times New Roman" pitchFamily="18" charset="0"/>
              <a:cs typeface="Times New Roman" pitchFamily="18" charset="0"/>
            </a:endParaRPr>
          </a:p>
          <a:p>
            <a:pPr>
              <a:lnSpc>
                <a:spcPct val="80000"/>
              </a:lnSpc>
              <a:defRPr/>
            </a:pPr>
            <a:endParaRPr lang="en-US" sz="4900" b="1" dirty="0">
              <a:solidFill>
                <a:srgbClr val="00B0F0"/>
              </a:solidFill>
              <a:latin typeface="Times New Roman" pitchFamily="18" charset="0"/>
              <a:cs typeface="Times New Roman" pitchFamily="18" charset="0"/>
            </a:endParaRPr>
          </a:p>
          <a:p>
            <a:pPr algn="l">
              <a:lnSpc>
                <a:spcPct val="80000"/>
              </a:lnSpc>
              <a:defRPr/>
            </a:pPr>
            <a:r>
              <a:rPr lang="en-US" sz="4900" b="1" dirty="0">
                <a:solidFill>
                  <a:schemeClr val="tx1"/>
                </a:solidFill>
                <a:latin typeface="Times New Roman" pitchFamily="18" charset="0"/>
                <a:cs typeface="Times New Roman" pitchFamily="18" charset="0"/>
              </a:rPr>
              <a:t>                                                               </a:t>
            </a:r>
            <a:r>
              <a:rPr lang="en-US" sz="4800" b="1" dirty="0">
                <a:solidFill>
                  <a:schemeClr val="tx1"/>
                </a:solidFill>
                <a:latin typeface="Times New Roman" pitchFamily="18" charset="0"/>
                <a:cs typeface="Times New Roman" pitchFamily="18" charset="0"/>
              </a:rPr>
              <a:t>Roll No             Name</a:t>
            </a:r>
          </a:p>
          <a:p>
            <a:pPr algn="l">
              <a:lnSpc>
                <a:spcPct val="80000"/>
              </a:lnSpc>
              <a:defRPr/>
            </a:pP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2420030592     </a:t>
            </a:r>
            <a:r>
              <a:rPr lang="en-US" sz="4800" dirty="0" err="1">
                <a:solidFill>
                  <a:schemeClr val="tx1"/>
                </a:solidFill>
                <a:latin typeface="Times New Roman" pitchFamily="18" charset="0"/>
                <a:cs typeface="Times New Roman" pitchFamily="18" charset="0"/>
              </a:rPr>
              <a:t>J.Kumudavalli</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2420030415     </a:t>
            </a:r>
            <a:r>
              <a:rPr lang="en-US" sz="4800" dirty="0" err="1">
                <a:solidFill>
                  <a:schemeClr val="tx1"/>
                </a:solidFill>
                <a:latin typeface="Times New Roman" pitchFamily="18" charset="0"/>
                <a:cs typeface="Times New Roman" pitchFamily="18" charset="0"/>
              </a:rPr>
              <a:t>G.Rithwik</a:t>
            </a:r>
            <a:endParaRPr lang="en-US" sz="4800" dirty="0">
              <a:solidFill>
                <a:schemeClr val="tx1"/>
              </a:solidFill>
              <a:latin typeface="Times New Roman" pitchFamily="18" charset="0"/>
              <a:cs typeface="Times New Roman" pitchFamily="18" charset="0"/>
            </a:endParaRPr>
          </a:p>
          <a:p>
            <a:pPr algn="l">
              <a:lnSpc>
                <a:spcPct val="80000"/>
              </a:lnSpc>
              <a:defRPr/>
            </a:pPr>
            <a:r>
              <a:rPr lang="en-US" sz="4800" dirty="0">
                <a:solidFill>
                  <a:schemeClr val="tx1"/>
                </a:solidFill>
                <a:latin typeface="Times New Roman" pitchFamily="18" charset="0"/>
                <a:cs typeface="Times New Roman" pitchFamily="18" charset="0"/>
              </a:rPr>
              <a:t>                                                             2420090113     </a:t>
            </a:r>
            <a:r>
              <a:rPr lang="en-US" sz="4800" dirty="0" err="1">
                <a:solidFill>
                  <a:schemeClr val="tx1"/>
                </a:solidFill>
                <a:latin typeface="Times New Roman" pitchFamily="18" charset="0"/>
                <a:cs typeface="Times New Roman" pitchFamily="18" charset="0"/>
              </a:rPr>
              <a:t>T.Ram</a:t>
            </a:r>
            <a:r>
              <a:rPr lang="en-US" sz="4800" dirty="0">
                <a:solidFill>
                  <a:schemeClr val="tx1"/>
                </a:solidFill>
                <a:latin typeface="Times New Roman" pitchFamily="18" charset="0"/>
                <a:cs typeface="Times New Roman" pitchFamily="18" charset="0"/>
              </a:rPr>
              <a:t> Tejaswi Reddy</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endParaRPr lang="en-US" sz="4200" b="1" dirty="0">
              <a:solidFill>
                <a:srgbClr val="FF0000"/>
              </a:solidFill>
              <a:latin typeface="Times New Roman" pitchFamily="18" charset="0"/>
              <a:cs typeface="Times New Roman"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p>
          <a:p>
            <a:pPr>
              <a:lnSpc>
                <a:spcPct val="80000"/>
              </a:lnSpc>
              <a:defRPr/>
            </a:pPr>
            <a:endParaRPr lang="en-US" sz="4200" dirty="0">
              <a:solidFill>
                <a:srgbClr val="0D0D0D"/>
              </a:solidFill>
              <a:latin typeface="Times New Roman" pitchFamily="18" charset="0"/>
              <a:cs typeface="Times New Roman"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Dr. Nalla Shirisha</a:t>
            </a: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itchFamily="18" charset="0"/>
                <a:cs typeface="Times New Roman" pitchFamily="18" charset="0"/>
              </a:rPr>
              <a:t>Department of Computer Science and Engineering</a:t>
            </a:r>
          </a:p>
          <a:p>
            <a:pPr>
              <a:lnSpc>
                <a:spcPct val="80000"/>
              </a:lnSpc>
              <a:defRPr/>
            </a:pPr>
            <a:r>
              <a:rPr lang="en-US" sz="4200" b="1" dirty="0">
                <a:solidFill>
                  <a:srgbClr val="0D0D0D"/>
                </a:solidFill>
                <a:latin typeface="Times New Roman" pitchFamily="18" charset="0"/>
                <a:cs typeface="Times New Roman" pitchFamily="18" charset="0"/>
              </a:rPr>
              <a:t>                                                </a:t>
            </a:r>
            <a:r>
              <a:rPr lang="en-US" sz="4200" dirty="0">
                <a:solidFill>
                  <a:srgbClr val="0D0D0D"/>
                </a:solidFill>
                <a:latin typeface="Times New Roman" pitchFamily="18" charset="0"/>
                <a:cs typeface="Times New Roman" pitchFamily="18" charset="0"/>
              </a:rPr>
              <a:t>                              </a:t>
            </a:r>
            <a:r>
              <a:rPr lang="en-US" sz="18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1371600" y="5115098"/>
            <a:ext cx="6858000" cy="1047403"/>
          </a:xfrm>
          <a:prstGeom prst="rect">
            <a:avLst/>
          </a:prstGeom>
          <a:noFill/>
        </p:spPr>
        <p:txBody>
          <a:bodyPr wrap="square">
            <a:spAutoFit/>
          </a:bodyPr>
          <a:lstStyle/>
          <a:p>
            <a:pPr algn="ctr">
              <a:lnSpc>
                <a:spcPct val="107000"/>
              </a:lnSpc>
              <a:spcBef>
                <a:spcPts val="1166"/>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3080" y="4175313"/>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153BB-F2D9-5981-3911-E3CD62AA894A}"/>
              </a:ext>
            </a:extLst>
          </p:cNvPr>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CF031362-F3B1-87A9-8AC6-43B4226021DE}"/>
              </a:ext>
            </a:extLst>
          </p:cNvPr>
          <p:cNvSpPr>
            <a:spLocks noGrp="1"/>
          </p:cNvSpPr>
          <p:nvPr>
            <p:ph idx="1"/>
          </p:nvPr>
        </p:nvSpPr>
        <p:spPr>
          <a:xfrm>
            <a:off x="457200" y="1943893"/>
            <a:ext cx="8229600" cy="4525963"/>
          </a:xfrm>
        </p:spPr>
        <p:txBody>
          <a:bodyPr/>
          <a:lstStyle/>
          <a:p>
            <a:r>
              <a:rPr lang="en-IN" sz="1800" dirty="0">
                <a:latin typeface="Times New Roman" panose="02020603050405020304" pitchFamily="18" charset="0"/>
                <a:cs typeface="Times New Roman" panose="02020603050405020304" pitchFamily="18" charset="0"/>
              </a:rPr>
              <a:t>Abstract</a:t>
            </a:r>
          </a:p>
          <a:p>
            <a:r>
              <a:rPr lang="en-IN" sz="1800" dirty="0">
                <a:latin typeface="Times New Roman" panose="02020603050405020304" pitchFamily="18" charset="0"/>
                <a:cs typeface="Times New Roman" panose="02020603050405020304" pitchFamily="18" charset="0"/>
              </a:rPr>
              <a:t>Introduction</a:t>
            </a:r>
          </a:p>
          <a:p>
            <a:r>
              <a:rPr lang="en-IN" sz="1800" dirty="0">
                <a:latin typeface="Times New Roman" panose="02020603050405020304" pitchFamily="18" charset="0"/>
                <a:cs typeface="Times New Roman" panose="02020603050405020304" pitchFamily="18" charset="0"/>
              </a:rPr>
              <a:t>Objectives</a:t>
            </a:r>
          </a:p>
          <a:p>
            <a:r>
              <a:rPr lang="en-IN" sz="1800" dirty="0">
                <a:latin typeface="Times New Roman" panose="02020603050405020304" pitchFamily="18" charset="0"/>
                <a:cs typeface="Times New Roman" panose="02020603050405020304" pitchFamily="18" charset="0"/>
              </a:rPr>
              <a:t>Literature Survey</a:t>
            </a:r>
          </a:p>
          <a:p>
            <a:r>
              <a:rPr lang="en-IN" sz="1800" dirty="0">
                <a:latin typeface="Times New Roman" panose="02020603050405020304" pitchFamily="18" charset="0"/>
                <a:cs typeface="Times New Roman" panose="02020603050405020304" pitchFamily="18" charset="0"/>
              </a:rPr>
              <a:t>Implementation</a:t>
            </a:r>
          </a:p>
          <a:p>
            <a:r>
              <a:rPr lang="en-IN" sz="1800"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BBE1ED-9619-00CD-BD74-A2BF998CD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71067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B172-09E0-EBC3-DE45-99E37BDA01FD}"/>
              </a:ext>
            </a:extLst>
          </p:cNvPr>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EE91A77-D011-DA9A-7E65-578A3E30E6DE}"/>
              </a:ext>
            </a:extLst>
          </p:cNvPr>
          <p:cNvSpPr>
            <a:spLocks noGrp="1"/>
          </p:cNvSpPr>
          <p:nvPr>
            <p:ph idx="1"/>
          </p:nvPr>
        </p:nvSpPr>
        <p:spPr>
          <a:xfrm>
            <a:off x="457200" y="1435706"/>
            <a:ext cx="8229600" cy="4525963"/>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Stock Market Data Pipeline</a:t>
            </a:r>
            <a:r>
              <a:rPr lang="en-US" dirty="0">
                <a:latin typeface="Times New Roman" panose="02020603050405020304" pitchFamily="18" charset="0"/>
                <a:cs typeface="Times New Roman" panose="02020603050405020304" pitchFamily="18" charset="0"/>
              </a:rPr>
              <a:t> is a data engineering project designed to collect, process, transform, store, and analyze stock market data efficiently. Stock market information such as stock prices, trading volume, opening price, closing price, highest price, and lowest price is generated continuously from financial data sources.</a:t>
            </a:r>
          </a:p>
          <a:p>
            <a:pPr marL="0" indent="0" algn="just">
              <a:buNone/>
            </a:pPr>
            <a:r>
              <a:rPr lang="en-US" dirty="0">
                <a:latin typeface="Times New Roman" panose="02020603050405020304" pitchFamily="18" charset="0"/>
                <a:cs typeface="Times New Roman" panose="02020603050405020304" pitchFamily="18" charset="0"/>
              </a:rPr>
              <a:t>The proposed pipeline automatically collects this data using </a:t>
            </a:r>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cleans and transforms the raw data, and stores it in a structured database or data warehouse. The processed data can then be used for analysis, visualization, and generating useful insights about stock market performance.</a:t>
            </a:r>
          </a:p>
          <a:p>
            <a:pPr marL="0" indent="0" algn="just">
              <a:buNone/>
            </a:pPr>
            <a:r>
              <a:rPr lang="en-US" dirty="0">
                <a:latin typeface="Times New Roman" panose="02020603050405020304" pitchFamily="18" charset="0"/>
                <a:cs typeface="Times New Roman" panose="02020603050405020304" pitchFamily="18" charset="0"/>
              </a:rPr>
              <a:t>The project demonstrates important data engineering concepts such as </a:t>
            </a:r>
            <a:r>
              <a:rPr lang="en-US" b="1" dirty="0">
                <a:latin typeface="Times New Roman" panose="02020603050405020304" pitchFamily="18" charset="0"/>
                <a:cs typeface="Times New Roman" panose="02020603050405020304" pitchFamily="18" charset="0"/>
              </a:rPr>
              <a:t>data ingestion, data cleaning, ETL/ELT processing, data transformation, data storage, pipeline automation, and data visualization</a:t>
            </a:r>
            <a:r>
              <a:rPr lang="en-US" dirty="0">
                <a:latin typeface="Times New Roman" panose="02020603050405020304" pitchFamily="18" charset="0"/>
                <a:cs typeface="Times New Roman" panose="02020603050405020304" pitchFamily="18" charset="0"/>
              </a:rPr>
              <a:t>. The system can help users monitor historical and current stock information and provide reliable data for further financial analysis.</a:t>
            </a:r>
          </a:p>
          <a:p>
            <a:pPr marL="0" indent="0" algn="just">
              <a:lnSpc>
                <a:spcPct val="110000"/>
              </a:lnSpc>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6ECAE88-2134-CBB1-321C-D23F93B31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324763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1297-D23B-EC58-2AC3-A4D43BD73A07}"/>
              </a:ext>
            </a:extLst>
          </p:cNvPr>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C410263-6437-6254-84C9-A69F7480C0AE}"/>
              </a:ext>
            </a:extLst>
          </p:cNvPr>
          <p:cNvSpPr>
            <a:spLocks noGrp="1"/>
          </p:cNvSpPr>
          <p:nvPr>
            <p:ph idx="1"/>
          </p:nvPr>
        </p:nvSpPr>
        <p:spPr>
          <a:xfrm>
            <a:off x="228600" y="1066800"/>
            <a:ext cx="8686800" cy="5791200"/>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The stock market generates a huge amount of data every day. Stock exchanges continuously produce information about companies, prices, trading volumes, market movements, and transactions.</a:t>
            </a:r>
          </a:p>
          <a:p>
            <a:pPr marL="0" indent="0">
              <a:buNone/>
            </a:pPr>
            <a:r>
              <a:rPr lang="en-US" sz="1800" dirty="0">
                <a:latin typeface="Times New Roman" panose="02020603050405020304" pitchFamily="18" charset="0"/>
                <a:cs typeface="Times New Roman" panose="02020603050405020304" pitchFamily="18" charset="0"/>
              </a:rPr>
              <a:t>Raw stock market data may come from different sources and may contain missing values, duplicate records, incorrect formats, or inconsistent timestamps. Therefore, simply collecting the data is not enough. The data must be properly processed before it can be used for analysis.</a:t>
            </a:r>
          </a:p>
          <a:p>
            <a:pPr marL="0" indent="0">
              <a:buNone/>
            </a:pPr>
            <a:r>
              <a:rPr lang="en-US" sz="1800" dirty="0">
                <a:latin typeface="Times New Roman" panose="02020603050405020304" pitchFamily="18" charset="0"/>
                <a:cs typeface="Times New Roman" panose="02020603050405020304" pitchFamily="18" charset="0"/>
              </a:rPr>
              <a:t>A data pipeline provides a systematic way to move data from its source to a destination where it can be analyzed.</a:t>
            </a:r>
          </a:p>
          <a:p>
            <a:pPr marL="0" indent="0">
              <a:buNone/>
            </a:pPr>
            <a:r>
              <a:rPr lang="en-US" sz="1800" dirty="0">
                <a:latin typeface="Times New Roman" panose="02020603050405020304" pitchFamily="18" charset="0"/>
                <a:cs typeface="Times New Roman" panose="02020603050405020304" pitchFamily="18" charset="0"/>
              </a:rPr>
              <a:t>The proposed Stock Market Data Pipeline collects stock data from an external financial API or dataset, processes the raw information using Python, performs data cleaning and transformation, and stores the processed information in a database.</a:t>
            </a:r>
          </a:p>
          <a:p>
            <a:pPr marL="0" indent="0">
              <a:buNone/>
            </a:pPr>
            <a:r>
              <a:rPr lang="en-US" sz="1800" dirty="0">
                <a:latin typeface="Times New Roman" panose="02020603050405020304" pitchFamily="18" charset="0"/>
                <a:cs typeface="Times New Roman" panose="02020603050405020304" pitchFamily="18" charset="0"/>
              </a:rPr>
              <a:t>The pipeline can then provide data to visualization tools such as Power BI, Tableau, or</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Python dashboards.</a:t>
            </a:r>
          </a:p>
          <a:p>
            <a:pPr marL="0" indent="0">
              <a:buNone/>
            </a:pPr>
            <a:r>
              <a:rPr lang="en-US" sz="1800" dirty="0">
                <a:latin typeface="Times New Roman" panose="02020603050405020304" pitchFamily="18" charset="0"/>
                <a:cs typeface="Times New Roman" panose="02020603050405020304" pitchFamily="18" charset="0"/>
              </a:rPr>
              <a:t>Basic Pipeline</a:t>
            </a:r>
          </a:p>
          <a:p>
            <a:pPr marL="0" indent="0">
              <a:buNone/>
            </a:pPr>
            <a:r>
              <a:rPr lang="en-US" sz="1800" dirty="0">
                <a:latin typeface="Times New Roman" panose="02020603050405020304" pitchFamily="18" charset="0"/>
                <a:cs typeface="Times New Roman" panose="02020603050405020304" pitchFamily="18" charset="0"/>
              </a:rPr>
              <a:t>Data Source → Data Ingestion → Data Cleaning → Data Transformation → Data Storage → Data Analysis → Visualization</a:t>
            </a:r>
          </a:p>
          <a:p>
            <a:pPr marL="0" indent="0">
              <a:buNone/>
            </a:pPr>
            <a:r>
              <a:rPr lang="en-US" sz="2000" dirty="0">
                <a:latin typeface="Times New Roman" panose="02020603050405020304" pitchFamily="18" charset="0"/>
                <a:cs typeface="Times New Roman" panose="02020603050405020304" pitchFamily="18" charset="0"/>
              </a:rPr>
              <a:t>This approach demonstrates how data engineering techniques can be applied to a real-world financial data problem.</a:t>
            </a:r>
          </a:p>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4B7662-4F5B-AB4D-7BC0-F603B3DE2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extLst>
      <p:ext uri="{BB962C8B-B14F-4D97-AF65-F5344CB8AC3E}">
        <p14:creationId xmlns:p14="http://schemas.microsoft.com/office/powerpoint/2010/main" val="12658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2711</TotalTime>
  <Words>481</Words>
  <Application>Microsoft Office PowerPoint</Application>
  <PresentationFormat>On-screen Show (4:3)</PresentationFormat>
  <Paragraphs>41</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Calibri</vt:lpstr>
      <vt:lpstr>Times New Roman</vt:lpstr>
      <vt:lpstr>Wingdings</vt:lpstr>
      <vt:lpstr>Office Theme</vt:lpstr>
      <vt:lpstr>     STOCK MARKET DATA PIPELINE      </vt:lpstr>
      <vt:lpstr>Table of contents</vt:lpstr>
      <vt:lpstr>Abstract</vt:lpstr>
      <vt:lpstr> 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22101A010009</cp:lastModifiedBy>
  <cp:revision>212</cp:revision>
  <dcterms:created xsi:type="dcterms:W3CDTF">2006-08-16T00:00:00Z</dcterms:created>
  <dcterms:modified xsi:type="dcterms:W3CDTF">2026-08-24T16:09:01Z</dcterms:modified>
</cp:coreProperties>
</file>