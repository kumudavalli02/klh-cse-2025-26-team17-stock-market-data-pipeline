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86" r:id="rId2"/>
    <p:sldId id="288" r:id="rId3"/>
    <p:sldId id="287" r:id="rId4"/>
    <p:sldId id="289" r:id="rId5"/>
    <p:sldId id="290" r:id="rId6"/>
    <p:sldId id="291" r:id="rId7"/>
    <p:sldId id="292" r:id="rId8"/>
    <p:sldId id="293" r:id="rId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3" autoAdjust="0"/>
  </p:normalViewPr>
  <p:slideViewPr>
    <p:cSldViewPr>
      <p:cViewPr varScale="1">
        <p:scale>
          <a:sx n="81" d="100"/>
          <a:sy n="81" d="100"/>
        </p:scale>
        <p:origin x="1498"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8/24/2026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2"/>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20"/>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9"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9"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7"/>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5"/>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5"/>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7"/>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8/24/2026</a:t>
            </a:fld>
            <a:endParaRPr lang="en-US"/>
          </a:p>
        </p:txBody>
      </p:sp>
      <p:sp>
        <p:nvSpPr>
          <p:cNvPr id="5" name="Footer Placeholder 4"/>
          <p:cNvSpPr>
            <a:spLocks noGrp="1"/>
          </p:cNvSpPr>
          <p:nvPr>
            <p:ph type="ftr" sz="quarter" idx="3"/>
          </p:nvPr>
        </p:nvSpPr>
        <p:spPr>
          <a:xfrm>
            <a:off x="3124200" y="6356357"/>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7"/>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5425" y="1036792"/>
            <a:ext cx="6153150" cy="176589"/>
          </a:xfrm>
        </p:spPr>
        <p:txBody>
          <a:bodyPr>
            <a:normAutofit fontScale="90000"/>
          </a:bodyPr>
          <a:lstStyle/>
          <a:p>
            <a:pPr>
              <a:defRPr/>
            </a:pP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r>
              <a:rPr lang="en-US" sz="2000" dirty="0">
                <a:latin typeface="Times New Roman" pitchFamily="18" charset="0"/>
                <a:cs typeface="Times New Roman" pitchFamily="18" charset="0"/>
              </a:rPr>
              <a:t>	</a:t>
            </a:r>
            <a:r>
              <a:rPr lang="en-US" sz="2700" b="1" dirty="0">
                <a:solidFill>
                  <a:schemeClr val="accent1"/>
                </a:solidFill>
                <a:latin typeface="Times New Roman" pitchFamily="18" charset="0"/>
                <a:cs typeface="Times New Roman" pitchFamily="18" charset="0"/>
              </a:rPr>
              <a:t>STOCK MARKET DATA PIPELINE</a:t>
            </a:r>
            <a:br>
              <a:rPr lang="en-US" sz="2200" b="1" dirty="0">
                <a:latin typeface="Times New Roman" pitchFamily="18" charset="0"/>
                <a:cs typeface="Times New Roman" pitchFamily="18" charset="0"/>
              </a:rPr>
            </a:br>
            <a:br>
              <a:rPr lang="en-US" sz="1350" dirty="0">
                <a:latin typeface="Times New Roman" pitchFamily="18" charset="0"/>
                <a:cs typeface="Times New Roman" pitchFamily="18" charset="0"/>
              </a:rPr>
            </a:br>
            <a:r>
              <a:rPr lang="en-US" sz="2200" dirty="0">
                <a:latin typeface="Times New Roman" pitchFamily="18" charset="0"/>
                <a:cs typeface="Times New Roman" pitchFamily="18" charset="0"/>
              </a:rPr>
              <a:t> </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 </a:t>
            </a:r>
            <a:br>
              <a:rPr lang="en-US" b="1" dirty="0"/>
            </a:br>
            <a:endParaRPr lang="en-US" sz="3000" b="1" dirty="0">
              <a:latin typeface="Times New Roman" pitchFamily="18" charset="0"/>
              <a:cs typeface="Times New Roman" pitchFamily="18" charset="0"/>
            </a:endParaRPr>
          </a:p>
        </p:txBody>
      </p:sp>
      <p:sp>
        <p:nvSpPr>
          <p:cNvPr id="3" name="Subtitle 2"/>
          <p:cNvSpPr>
            <a:spLocks noGrp="1"/>
          </p:cNvSpPr>
          <p:nvPr>
            <p:ph type="subTitle" idx="1"/>
          </p:nvPr>
        </p:nvSpPr>
        <p:spPr>
          <a:xfrm>
            <a:off x="1428750" y="1213381"/>
            <a:ext cx="6343650" cy="2799768"/>
          </a:xfrm>
        </p:spPr>
        <p:txBody>
          <a:bodyPr>
            <a:normAutofit fontScale="25000" lnSpcReduction="20000"/>
          </a:bodyPr>
          <a:lstStyle/>
          <a:p>
            <a:pPr>
              <a:lnSpc>
                <a:spcPct val="80000"/>
              </a:lnSpc>
              <a:defRPr/>
            </a:pPr>
            <a:endParaRPr lang="en-US" sz="1500" dirty="0">
              <a:solidFill>
                <a:srgbClr val="0D0D0D"/>
              </a:solidFill>
              <a:latin typeface="Times New Roman" pitchFamily="18" charset="0"/>
              <a:cs typeface="Times New Roman" pitchFamily="18" charset="0"/>
            </a:endParaRPr>
          </a:p>
          <a:p>
            <a:pPr>
              <a:lnSpc>
                <a:spcPct val="80000"/>
              </a:lnSpc>
              <a:defRPr/>
            </a:pPr>
            <a:r>
              <a:rPr lang="en-US" sz="8000" b="1" dirty="0">
                <a:solidFill>
                  <a:schemeClr val="tx1"/>
                </a:solidFill>
                <a:latin typeface="Times New Roman" pitchFamily="18" charset="0"/>
                <a:cs typeface="Times New Roman" pitchFamily="18" charset="0"/>
              </a:rPr>
              <a:t>REVIEW – 1</a:t>
            </a:r>
          </a:p>
          <a:p>
            <a:pPr>
              <a:lnSpc>
                <a:spcPct val="80000"/>
              </a:lnSpc>
              <a:defRPr/>
            </a:pPr>
            <a:endParaRPr lang="en-US" sz="6400" b="1" dirty="0">
              <a:solidFill>
                <a:schemeClr val="tx1"/>
              </a:solidFill>
              <a:latin typeface="Times New Roman" pitchFamily="18" charset="0"/>
              <a:cs typeface="Times New Roman" pitchFamily="18" charset="0"/>
            </a:endParaRPr>
          </a:p>
          <a:p>
            <a:pPr>
              <a:lnSpc>
                <a:spcPct val="80000"/>
              </a:lnSpc>
              <a:defRPr/>
            </a:pPr>
            <a:r>
              <a:rPr lang="en-US" sz="6400" b="1" dirty="0">
                <a:solidFill>
                  <a:schemeClr val="tx1"/>
                </a:solidFill>
                <a:latin typeface="Times New Roman" pitchFamily="18" charset="0"/>
                <a:cs typeface="Times New Roman" pitchFamily="18" charset="0"/>
              </a:rPr>
              <a:t> </a:t>
            </a:r>
            <a:r>
              <a:rPr lang="en-US" sz="7200" b="1" dirty="0">
                <a:solidFill>
                  <a:schemeClr val="tx1"/>
                </a:solidFill>
                <a:latin typeface="Times New Roman" pitchFamily="18" charset="0"/>
                <a:cs typeface="Times New Roman" pitchFamily="18" charset="0"/>
              </a:rPr>
              <a:t>Team members</a:t>
            </a:r>
          </a:p>
          <a:p>
            <a:pPr>
              <a:lnSpc>
                <a:spcPct val="80000"/>
              </a:lnSpc>
              <a:defRPr/>
            </a:pPr>
            <a:endParaRPr lang="en-US" sz="6400" b="1" dirty="0">
              <a:solidFill>
                <a:schemeClr val="tx1"/>
              </a:solidFill>
              <a:latin typeface="Times New Roman" pitchFamily="18" charset="0"/>
              <a:cs typeface="Times New Roman" pitchFamily="18" charset="0"/>
            </a:endParaRPr>
          </a:p>
          <a:p>
            <a:pPr>
              <a:lnSpc>
                <a:spcPct val="80000"/>
              </a:lnSpc>
              <a:defRPr/>
            </a:pPr>
            <a:endParaRPr lang="en-US" sz="4900" b="1" dirty="0">
              <a:solidFill>
                <a:srgbClr val="00B0F0"/>
              </a:solidFill>
              <a:latin typeface="Times New Roman" pitchFamily="18" charset="0"/>
              <a:cs typeface="Times New Roman" pitchFamily="18" charset="0"/>
            </a:endParaRPr>
          </a:p>
          <a:p>
            <a:pPr algn="l">
              <a:lnSpc>
                <a:spcPct val="80000"/>
              </a:lnSpc>
              <a:defRPr/>
            </a:pPr>
            <a:r>
              <a:rPr lang="en-US" sz="4900" b="1" dirty="0">
                <a:solidFill>
                  <a:schemeClr val="tx1"/>
                </a:solidFill>
                <a:latin typeface="Times New Roman" pitchFamily="18" charset="0"/>
                <a:cs typeface="Times New Roman" pitchFamily="18" charset="0"/>
              </a:rPr>
              <a:t>                                                               </a:t>
            </a:r>
            <a:r>
              <a:rPr lang="en-US" sz="4800" b="1" dirty="0">
                <a:solidFill>
                  <a:schemeClr val="tx1"/>
                </a:solidFill>
                <a:latin typeface="Times New Roman" pitchFamily="18" charset="0"/>
                <a:cs typeface="Times New Roman" pitchFamily="18" charset="0"/>
              </a:rPr>
              <a:t>Roll No             Name</a:t>
            </a:r>
          </a:p>
          <a:p>
            <a:pPr algn="l">
              <a:lnSpc>
                <a:spcPct val="80000"/>
              </a:lnSpc>
              <a:defRPr/>
            </a:pP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2420030592     </a:t>
            </a:r>
            <a:r>
              <a:rPr lang="en-US" sz="4800" dirty="0" err="1">
                <a:solidFill>
                  <a:schemeClr val="tx1"/>
                </a:solidFill>
                <a:latin typeface="Times New Roman" pitchFamily="18" charset="0"/>
                <a:cs typeface="Times New Roman" pitchFamily="18" charset="0"/>
              </a:rPr>
              <a:t>J.Kumudavalli</a:t>
            </a: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2420030415     </a:t>
            </a:r>
            <a:r>
              <a:rPr lang="en-US" sz="4800" dirty="0" err="1">
                <a:solidFill>
                  <a:schemeClr val="tx1"/>
                </a:solidFill>
                <a:latin typeface="Times New Roman" pitchFamily="18" charset="0"/>
                <a:cs typeface="Times New Roman" pitchFamily="18" charset="0"/>
              </a:rPr>
              <a:t>G.Rithwik</a:t>
            </a: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2420090113     </a:t>
            </a:r>
            <a:r>
              <a:rPr lang="en-US" sz="4800" dirty="0" err="1">
                <a:solidFill>
                  <a:schemeClr val="tx1"/>
                </a:solidFill>
                <a:latin typeface="Times New Roman" pitchFamily="18" charset="0"/>
                <a:cs typeface="Times New Roman" pitchFamily="18" charset="0"/>
              </a:rPr>
              <a:t>T.Ram</a:t>
            </a:r>
            <a:r>
              <a:rPr lang="en-US" sz="4800" dirty="0">
                <a:solidFill>
                  <a:schemeClr val="tx1"/>
                </a:solidFill>
                <a:latin typeface="Times New Roman" pitchFamily="18" charset="0"/>
                <a:cs typeface="Times New Roman" pitchFamily="18" charset="0"/>
              </a:rPr>
              <a:t> Tejaswi Reddy</a:t>
            </a:r>
          </a:p>
          <a:p>
            <a:pPr>
              <a:lnSpc>
                <a:spcPct val="80000"/>
              </a:lnSpc>
              <a:defRPr/>
            </a:pPr>
            <a:endParaRPr lang="en-US" sz="4200" dirty="0">
              <a:solidFill>
                <a:srgbClr val="0D0D0D"/>
              </a:solidFill>
              <a:latin typeface="Times New Roman" pitchFamily="18" charset="0"/>
              <a:cs typeface="Times New Roman" pitchFamily="18" charset="0"/>
            </a:endParaRPr>
          </a:p>
          <a:p>
            <a:pPr>
              <a:lnSpc>
                <a:spcPct val="80000"/>
              </a:lnSpc>
              <a:defRPr/>
            </a:pPr>
            <a:endParaRPr lang="en-US" sz="4200" b="1" dirty="0">
              <a:solidFill>
                <a:srgbClr val="FF0000"/>
              </a:solidFill>
              <a:latin typeface="Times New Roman" pitchFamily="18" charset="0"/>
              <a:cs typeface="Times New Roman" pitchFamily="18" charset="0"/>
            </a:endParaRPr>
          </a:p>
          <a:p>
            <a:pPr>
              <a:lnSpc>
                <a:spcPct val="80000"/>
              </a:lnSpc>
              <a:defRPr/>
            </a:pPr>
            <a:r>
              <a:rPr lang="en-GB" sz="4200" b="1" i="1" dirty="0">
                <a:solidFill>
                  <a:srgbClr val="FF0000"/>
                </a:solidFill>
                <a:latin typeface="Times New Roman" panose="02020603050405020304" pitchFamily="18" charset="0"/>
                <a:ea typeface="Times New Roman" panose="02020603050405020304" pitchFamily="18" charset="0"/>
              </a:rPr>
              <a:t>Under the guidance of </a:t>
            </a:r>
          </a:p>
          <a:p>
            <a:pPr>
              <a:lnSpc>
                <a:spcPct val="80000"/>
              </a:lnSpc>
              <a:defRPr/>
            </a:pPr>
            <a:endParaRPr lang="en-US" sz="4200" dirty="0">
              <a:solidFill>
                <a:srgbClr val="0D0D0D"/>
              </a:solidFill>
              <a:latin typeface="Times New Roman" pitchFamily="18" charset="0"/>
              <a:cs typeface="Times New Roman" pitchFamily="18" charset="0"/>
            </a:endParaRPr>
          </a:p>
          <a:p>
            <a:pPr>
              <a:lnSpc>
                <a:spcPct val="80000"/>
              </a:lnSpc>
              <a:defRPr/>
            </a:pPr>
            <a:r>
              <a:rPr lang="en-US" sz="4200" b="1" dirty="0">
                <a:solidFill>
                  <a:schemeClr val="tx1"/>
                </a:solidFill>
                <a:latin typeface="Times New Roman" panose="02020603050405020304" pitchFamily="18" charset="0"/>
                <a:cs typeface="Times New Roman" panose="02020603050405020304" pitchFamily="18" charset="0"/>
              </a:rPr>
              <a:t>Dr. Nalla Shirisha</a:t>
            </a: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rgbClr val="0070C0"/>
                </a:solidFill>
                <a:latin typeface="Times New Roman" pitchFamily="18" charset="0"/>
                <a:cs typeface="Times New Roman" pitchFamily="18" charset="0"/>
              </a:rPr>
              <a:t>Department of Computer Science and Engineering</a:t>
            </a:r>
          </a:p>
          <a:p>
            <a:pPr>
              <a:lnSpc>
                <a:spcPct val="80000"/>
              </a:lnSpc>
              <a:defRPr/>
            </a:pPr>
            <a:r>
              <a:rPr lang="en-US" sz="4200" b="1" dirty="0">
                <a:solidFill>
                  <a:srgbClr val="0D0D0D"/>
                </a:solidFill>
                <a:latin typeface="Times New Roman" pitchFamily="18" charset="0"/>
                <a:cs typeface="Times New Roman" pitchFamily="18" charset="0"/>
              </a:rPr>
              <a:t>                                                </a:t>
            </a:r>
            <a:r>
              <a:rPr lang="en-US" sz="4200" dirty="0">
                <a:solidFill>
                  <a:srgbClr val="0D0D0D"/>
                </a:solidFill>
                <a:latin typeface="Times New Roman" pitchFamily="18" charset="0"/>
                <a:cs typeface="Times New Roman" pitchFamily="18" charset="0"/>
              </a:rPr>
              <a:t>                              </a:t>
            </a:r>
            <a:r>
              <a:rPr lang="en-US" sz="18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1371600" y="5115098"/>
            <a:ext cx="6858000" cy="1047403"/>
          </a:xfrm>
          <a:prstGeom prst="rect">
            <a:avLst/>
          </a:prstGeom>
          <a:noFill/>
        </p:spPr>
        <p:txBody>
          <a:bodyPr wrap="square">
            <a:spAutoFit/>
          </a:bodyPr>
          <a:lstStyle/>
          <a:p>
            <a:pPr algn="ctr">
              <a:lnSpc>
                <a:spcPct val="107000"/>
              </a:lnSpc>
              <a:spcBef>
                <a:spcPts val="1166"/>
              </a:spcBef>
              <a:spcAft>
                <a:spcPts val="600"/>
              </a:spcAft>
            </a:pP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Koneru </a:t>
            </a:r>
            <a:r>
              <a:rPr lang="en-GB" sz="2100" b="1" kern="100" dirty="0" err="1">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350" b="1" kern="100" dirty="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Road,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3080" y="4175313"/>
            <a:ext cx="1874990" cy="9397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153BB-F2D9-5981-3911-E3CD62AA894A}"/>
              </a:ext>
            </a:extLst>
          </p:cNvPr>
          <p:cNvSpPr>
            <a:spLocks noGrp="1"/>
          </p:cNvSpPr>
          <p:nvPr>
            <p:ph type="title"/>
          </p:nvPr>
        </p:nvSpPr>
        <p:spPr>
          <a:xfrm>
            <a:off x="457200" y="575476"/>
            <a:ext cx="8229600" cy="1143000"/>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id="{CF031362-F3B1-87A9-8AC6-43B4226021DE}"/>
              </a:ext>
            </a:extLst>
          </p:cNvPr>
          <p:cNvSpPr>
            <a:spLocks noGrp="1"/>
          </p:cNvSpPr>
          <p:nvPr>
            <p:ph idx="1"/>
          </p:nvPr>
        </p:nvSpPr>
        <p:spPr>
          <a:xfrm>
            <a:off x="457200" y="1943893"/>
            <a:ext cx="8229600" cy="4525963"/>
          </a:xfrm>
        </p:spPr>
        <p:txBody>
          <a:bodyPr/>
          <a:lstStyle/>
          <a:p>
            <a:r>
              <a:rPr lang="en-IN" sz="1800" dirty="0">
                <a:latin typeface="Times New Roman" panose="02020603050405020304" pitchFamily="18" charset="0"/>
                <a:cs typeface="Times New Roman" panose="02020603050405020304" pitchFamily="18" charset="0"/>
              </a:rPr>
              <a:t>Abstract</a:t>
            </a:r>
          </a:p>
          <a:p>
            <a:r>
              <a:rPr lang="en-IN" sz="1800" dirty="0">
                <a:latin typeface="Times New Roman" panose="02020603050405020304" pitchFamily="18" charset="0"/>
                <a:cs typeface="Times New Roman" panose="02020603050405020304" pitchFamily="18" charset="0"/>
              </a:rPr>
              <a:t>Introduction</a:t>
            </a:r>
          </a:p>
          <a:p>
            <a:r>
              <a:rPr lang="en-IN" sz="1800" dirty="0">
                <a:latin typeface="Times New Roman" panose="02020603050405020304" pitchFamily="18" charset="0"/>
                <a:cs typeface="Times New Roman" panose="02020603050405020304" pitchFamily="18" charset="0"/>
              </a:rPr>
              <a:t>Objectives</a:t>
            </a:r>
          </a:p>
          <a:p>
            <a:r>
              <a:rPr lang="en-IN" sz="1800" dirty="0">
                <a:latin typeface="Times New Roman" panose="02020603050405020304" pitchFamily="18" charset="0"/>
                <a:cs typeface="Times New Roman" panose="02020603050405020304" pitchFamily="18" charset="0"/>
              </a:rPr>
              <a:t>Literature Survey</a:t>
            </a:r>
          </a:p>
          <a:p>
            <a:r>
              <a:rPr lang="en-IN" sz="1800" dirty="0">
                <a:latin typeface="Times New Roman" panose="02020603050405020304" pitchFamily="18" charset="0"/>
                <a:cs typeface="Times New Roman" panose="02020603050405020304" pitchFamily="18" charset="0"/>
              </a:rPr>
              <a:t>Implementation</a:t>
            </a:r>
          </a:p>
          <a:p>
            <a:r>
              <a:rPr lang="en-IN" sz="1800" dirty="0">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9BBE1ED-9619-00CD-BD74-A2BF998CD3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3710676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5B172-09E0-EBC3-DE45-99E37BDA01FD}"/>
              </a:ext>
            </a:extLst>
          </p:cNvPr>
          <p:cNvSpPr>
            <a:spLocks noGrp="1"/>
          </p:cNvSpPr>
          <p:nvPr>
            <p:ph type="title"/>
          </p:nvPr>
        </p:nvSpPr>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0EE91A77-D011-DA9A-7E65-578A3E30E6DE}"/>
              </a:ext>
            </a:extLst>
          </p:cNvPr>
          <p:cNvSpPr>
            <a:spLocks noGrp="1"/>
          </p:cNvSpPr>
          <p:nvPr>
            <p:ph idx="1"/>
          </p:nvPr>
        </p:nvSpPr>
        <p:spPr>
          <a:xfrm>
            <a:off x="457200" y="1435706"/>
            <a:ext cx="8229600" cy="4525963"/>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Stock Market Data Pipeline</a:t>
            </a:r>
            <a:r>
              <a:rPr lang="en-US" dirty="0">
                <a:latin typeface="Times New Roman" panose="02020603050405020304" pitchFamily="18" charset="0"/>
                <a:cs typeface="Times New Roman" panose="02020603050405020304" pitchFamily="18" charset="0"/>
              </a:rPr>
              <a:t> is a data engineering project designed to collect, process, transform, store, and analyze stock market data efficiently. Stock market information such as stock prices, trading volume, opening price, closing price, highest price, and lowest price is generated continuously from financial data sources.</a:t>
            </a:r>
          </a:p>
          <a:p>
            <a:pPr marL="0" indent="0" algn="just">
              <a:buNone/>
            </a:pPr>
            <a:r>
              <a:rPr lang="en-US" dirty="0">
                <a:latin typeface="Times New Roman" panose="02020603050405020304" pitchFamily="18" charset="0"/>
                <a:cs typeface="Times New Roman" panose="02020603050405020304" pitchFamily="18" charset="0"/>
              </a:rPr>
              <a:t>The proposed pipeline automatically collects this data using </a:t>
            </a:r>
            <a:r>
              <a:rPr lang="en-US" b="1" dirty="0">
                <a:latin typeface="Times New Roman" panose="02020603050405020304" pitchFamily="18" charset="0"/>
                <a:cs typeface="Times New Roman" panose="02020603050405020304" pitchFamily="18" charset="0"/>
              </a:rPr>
              <a:t>Python</a:t>
            </a:r>
            <a:r>
              <a:rPr lang="en-US" dirty="0">
                <a:latin typeface="Times New Roman" panose="02020603050405020304" pitchFamily="18" charset="0"/>
                <a:cs typeface="Times New Roman" panose="02020603050405020304" pitchFamily="18" charset="0"/>
              </a:rPr>
              <a:t>, cleans and transforms the raw data, and stores it in a structured database or data warehouse. The processed data can then be used for analysis, visualization, and generating useful insights about stock market performance.</a:t>
            </a:r>
          </a:p>
          <a:p>
            <a:pPr marL="0" indent="0" algn="just">
              <a:buNone/>
            </a:pPr>
            <a:r>
              <a:rPr lang="en-US" dirty="0">
                <a:latin typeface="Times New Roman" panose="02020603050405020304" pitchFamily="18" charset="0"/>
                <a:cs typeface="Times New Roman" panose="02020603050405020304" pitchFamily="18" charset="0"/>
              </a:rPr>
              <a:t>The project demonstrates important data engineering concepts such as </a:t>
            </a:r>
            <a:r>
              <a:rPr lang="en-US" b="1" dirty="0">
                <a:latin typeface="Times New Roman" panose="02020603050405020304" pitchFamily="18" charset="0"/>
                <a:cs typeface="Times New Roman" panose="02020603050405020304" pitchFamily="18" charset="0"/>
              </a:rPr>
              <a:t>data ingestion, data cleaning, ETL/ELT processing, data transformation, data storage, pipeline automation, and data visualization</a:t>
            </a:r>
            <a:r>
              <a:rPr lang="en-US" dirty="0">
                <a:latin typeface="Times New Roman" panose="02020603050405020304" pitchFamily="18" charset="0"/>
                <a:cs typeface="Times New Roman" panose="02020603050405020304" pitchFamily="18" charset="0"/>
              </a:rPr>
              <a:t>. The system can help users monitor historical and current stock information and provide reliable data for further financial analysis.</a:t>
            </a:r>
          </a:p>
          <a:p>
            <a:pPr marL="0" indent="0" algn="just">
              <a:lnSpc>
                <a:spcPct val="110000"/>
              </a:lnSpc>
              <a:buNone/>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6ECAE88-2134-CBB1-321C-D23F93B31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3247634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1297-D23B-EC58-2AC3-A4D43BD73A07}"/>
              </a:ext>
            </a:extLst>
          </p:cNvPr>
          <p:cNvSpPr>
            <a:spLocks noGrp="1"/>
          </p:cNvSpPr>
          <p:nvPr>
            <p:ph type="title"/>
          </p:nvPr>
        </p:nvSpPr>
        <p:spPr>
          <a:xfrm>
            <a:off x="-19050" y="480219"/>
            <a:ext cx="8458200" cy="715962"/>
          </a:xfrm>
        </p:spPr>
        <p:txBody>
          <a:bodyPr/>
          <a:lstStyle/>
          <a:p>
            <a:r>
              <a:rPr lang="en-IN" b="1" dirty="0">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C410263-6437-6254-84C9-A69F7480C0AE}"/>
              </a:ext>
            </a:extLst>
          </p:cNvPr>
          <p:cNvSpPr>
            <a:spLocks noGrp="1"/>
          </p:cNvSpPr>
          <p:nvPr>
            <p:ph idx="1"/>
          </p:nvPr>
        </p:nvSpPr>
        <p:spPr>
          <a:xfrm>
            <a:off x="228600" y="1066800"/>
            <a:ext cx="8686800" cy="5791200"/>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The stock market generates a huge amount of data every day. Stock exchanges continuously produce information about companies, prices, trading volumes, market movements, and transactions.</a:t>
            </a:r>
          </a:p>
          <a:p>
            <a:pPr marL="0" indent="0">
              <a:buNone/>
            </a:pPr>
            <a:r>
              <a:rPr lang="en-US" sz="1800" dirty="0">
                <a:latin typeface="Times New Roman" panose="02020603050405020304" pitchFamily="18" charset="0"/>
                <a:cs typeface="Times New Roman" panose="02020603050405020304" pitchFamily="18" charset="0"/>
              </a:rPr>
              <a:t>Raw stock market data may come from different sources and may contain missing values, duplicate records, incorrect formats, or inconsistent timestamps. Therefore, simply collecting the data is not enough. The data must be properly processed before it can be used for analysis.</a:t>
            </a:r>
          </a:p>
          <a:p>
            <a:pPr marL="0" indent="0">
              <a:buNone/>
            </a:pPr>
            <a:r>
              <a:rPr lang="en-US" sz="1800" dirty="0">
                <a:latin typeface="Times New Roman" panose="02020603050405020304" pitchFamily="18" charset="0"/>
                <a:cs typeface="Times New Roman" panose="02020603050405020304" pitchFamily="18" charset="0"/>
              </a:rPr>
              <a:t>A data pipeline provides a systematic way to move data from its source to a destination where it can be analyzed.</a:t>
            </a:r>
          </a:p>
          <a:p>
            <a:pPr marL="0" indent="0">
              <a:buNone/>
            </a:pPr>
            <a:r>
              <a:rPr lang="en-US" sz="1800" dirty="0">
                <a:latin typeface="Times New Roman" panose="02020603050405020304" pitchFamily="18" charset="0"/>
                <a:cs typeface="Times New Roman" panose="02020603050405020304" pitchFamily="18" charset="0"/>
              </a:rPr>
              <a:t>The proposed Stock Market Data Pipeline collects stock data from an external financial API or dataset, processes the raw information using Python, performs data cleaning and transformation, and stores the processed information in a database.</a:t>
            </a:r>
          </a:p>
          <a:p>
            <a:pPr marL="0" indent="0">
              <a:buNone/>
            </a:pPr>
            <a:r>
              <a:rPr lang="en-US" sz="1800" dirty="0">
                <a:latin typeface="Times New Roman" panose="02020603050405020304" pitchFamily="18" charset="0"/>
                <a:cs typeface="Times New Roman" panose="02020603050405020304" pitchFamily="18" charset="0"/>
              </a:rPr>
              <a:t>The pipeline can then provide data to visualization tools such as Power BI, Tableau, or</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Python dashboards.</a:t>
            </a:r>
          </a:p>
          <a:p>
            <a:pPr marL="0" indent="0">
              <a:buNone/>
            </a:pPr>
            <a:r>
              <a:rPr lang="en-US" sz="1800" dirty="0">
                <a:latin typeface="Times New Roman" panose="02020603050405020304" pitchFamily="18" charset="0"/>
                <a:cs typeface="Times New Roman" panose="02020603050405020304" pitchFamily="18" charset="0"/>
              </a:rPr>
              <a:t>Basic Pipeline</a:t>
            </a:r>
          </a:p>
          <a:p>
            <a:pPr marL="0" indent="0">
              <a:buNone/>
            </a:pPr>
            <a:r>
              <a:rPr lang="en-US" sz="1800" dirty="0">
                <a:latin typeface="Times New Roman" panose="02020603050405020304" pitchFamily="18" charset="0"/>
                <a:cs typeface="Times New Roman" panose="02020603050405020304" pitchFamily="18" charset="0"/>
              </a:rPr>
              <a:t>Data Source → Data Ingestion → Data Cleaning → Data Transformation → Data Storage → Data Analysis → Visualization</a:t>
            </a:r>
          </a:p>
          <a:p>
            <a:pPr marL="0" indent="0">
              <a:buNone/>
            </a:pPr>
            <a:r>
              <a:rPr lang="en-US" sz="2000" dirty="0">
                <a:latin typeface="Times New Roman" panose="02020603050405020304" pitchFamily="18" charset="0"/>
                <a:cs typeface="Times New Roman" panose="02020603050405020304" pitchFamily="18" charset="0"/>
              </a:rPr>
              <a:t>This approach demonstrates how data engineering techniques can be applied to a real-world financial data problem.</a:t>
            </a:r>
          </a:p>
          <a:p>
            <a:pPr algn="just">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A4B7662-4F5B-AB4D-7BC0-F603B3DE2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1265858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E4B033F-A214-7589-D6A2-4EB10FF1D2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
        <p:nvSpPr>
          <p:cNvPr id="3" name="TextBox 2">
            <a:extLst>
              <a:ext uri="{FF2B5EF4-FFF2-40B4-BE49-F238E27FC236}">
                <a16:creationId xmlns:a16="http://schemas.microsoft.com/office/drawing/2014/main" id="{DB1922B1-69FD-B19C-B1E8-489163303AFB}"/>
              </a:ext>
            </a:extLst>
          </p:cNvPr>
          <p:cNvSpPr txBox="1"/>
          <p:nvPr/>
        </p:nvSpPr>
        <p:spPr>
          <a:xfrm>
            <a:off x="3505200" y="304519"/>
            <a:ext cx="1941557" cy="584775"/>
          </a:xfrm>
          <a:prstGeom prst="rect">
            <a:avLst/>
          </a:prstGeom>
          <a:noFill/>
        </p:spPr>
        <p:txBody>
          <a:bodyPr wrap="none" rtlCol="0">
            <a:spAutoFit/>
          </a:bodyPr>
          <a:lstStyle/>
          <a:p>
            <a:r>
              <a:rPr lang="en-US" sz="3200" dirty="0">
                <a:solidFill>
                  <a:schemeClr val="accent1"/>
                </a:solidFill>
                <a:latin typeface="Times New Roman" panose="02020603050405020304" pitchFamily="18" charset="0"/>
                <a:cs typeface="Times New Roman" panose="02020603050405020304" pitchFamily="18" charset="0"/>
              </a:rPr>
              <a:t>Objectives</a:t>
            </a:r>
            <a:endParaRPr lang="en-IN"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E031ECB-5623-A8D2-F56D-3DF6C091BEC0}"/>
              </a:ext>
            </a:extLst>
          </p:cNvPr>
          <p:cNvSpPr txBox="1"/>
          <p:nvPr/>
        </p:nvSpPr>
        <p:spPr>
          <a:xfrm>
            <a:off x="304800" y="1981200"/>
            <a:ext cx="8458200" cy="347787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main objective of the Stock Market Data Pipeline is to develop an efficient data engineering system for collecting, processing, transforming, storing, and analyzing stock market information. The system is designed to automatically collect financial data such as opening price, closing price, highest price, lowest price, and trading volume from external financial APIs or datasets. The collected raw data is then cleaned and transformed into a structured format by handling missing values, duplicate records, inconsistent formats, and timestamps. The processed data is stored in a database or data warehouse so that it can be easily accessed for further analysis. The project also aims to demonstrate important data engineering concepts such as data ingestion, ETL/ELT processing, data transformation, pipeline automation, data storage, and visualization</a:t>
            </a:r>
            <a:r>
              <a:rPr lang="en-US" dirty="0"/>
              <a:t>. </a:t>
            </a:r>
          </a:p>
        </p:txBody>
      </p:sp>
    </p:spTree>
    <p:extLst>
      <p:ext uri="{BB962C8B-B14F-4D97-AF65-F5344CB8AC3E}">
        <p14:creationId xmlns:p14="http://schemas.microsoft.com/office/powerpoint/2010/main" val="1891415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76C2E7-F6AD-03C2-AE40-F1F3B32C93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
        <p:nvSpPr>
          <p:cNvPr id="5" name="TextBox 4">
            <a:extLst>
              <a:ext uri="{FF2B5EF4-FFF2-40B4-BE49-F238E27FC236}">
                <a16:creationId xmlns:a16="http://schemas.microsoft.com/office/drawing/2014/main" id="{D0758580-2EA7-AA58-4AD9-FDF144EC6729}"/>
              </a:ext>
            </a:extLst>
          </p:cNvPr>
          <p:cNvSpPr txBox="1"/>
          <p:nvPr/>
        </p:nvSpPr>
        <p:spPr>
          <a:xfrm>
            <a:off x="3038567" y="304519"/>
            <a:ext cx="3066865" cy="584775"/>
          </a:xfrm>
          <a:prstGeom prst="rect">
            <a:avLst/>
          </a:prstGeom>
          <a:noFill/>
        </p:spPr>
        <p:txBody>
          <a:bodyPr wrap="none" rtlCol="0">
            <a:spAutoFit/>
          </a:bodyPr>
          <a:lstStyle/>
          <a:p>
            <a:r>
              <a:rPr lang="en-IN" sz="3200" dirty="0">
                <a:solidFill>
                  <a:schemeClr val="accent1"/>
                </a:solidFill>
                <a:latin typeface="Times New Roman" panose="02020603050405020304" pitchFamily="18" charset="0"/>
                <a:cs typeface="Times New Roman" panose="02020603050405020304" pitchFamily="18" charset="0"/>
              </a:rPr>
              <a:t>Literature Survey</a:t>
            </a:r>
          </a:p>
        </p:txBody>
      </p:sp>
      <p:sp>
        <p:nvSpPr>
          <p:cNvPr id="7" name="TextBox 6">
            <a:extLst>
              <a:ext uri="{FF2B5EF4-FFF2-40B4-BE49-F238E27FC236}">
                <a16:creationId xmlns:a16="http://schemas.microsoft.com/office/drawing/2014/main" id="{5F9135F9-D3F4-63E8-EE6D-12954856FAF1}"/>
              </a:ext>
            </a:extLst>
          </p:cNvPr>
          <p:cNvSpPr txBox="1"/>
          <p:nvPr/>
        </p:nvSpPr>
        <p:spPr>
          <a:xfrm>
            <a:off x="457200" y="1166842"/>
            <a:ext cx="7162799" cy="4708981"/>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Stock market platforms generate a large amount of financial information continuously, including stock prices, trading volume, historical prices, and market movements. Existing financial systems generally collect this information from stock exchanges, financial APIs, or other market-data providers and make it available for analysis. However, raw financial data may contain missing values, duplicate records, incorrect formats, and inconsistent timestamps, which can affect the accuracy of analysis. Data engineering techniques provide a systematic approach for handling these challenges by creating pipelines that collect, clean, transform, and store data before it is used. The study of existing approaches shows that automated data pipelines can improve the organization, reliability, and accessibility of financial information. The proposed project applies these data engineering concepts to create a complete stock market data processing workflow.</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9021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D7C6B5-D155-9EA2-ED1B-6FA9BA2900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
        <p:nvSpPr>
          <p:cNvPr id="3" name="TextBox 2">
            <a:extLst>
              <a:ext uri="{FF2B5EF4-FFF2-40B4-BE49-F238E27FC236}">
                <a16:creationId xmlns:a16="http://schemas.microsoft.com/office/drawing/2014/main" id="{C7E858E4-A465-0032-C917-170A923B79EB}"/>
              </a:ext>
            </a:extLst>
          </p:cNvPr>
          <p:cNvSpPr txBox="1"/>
          <p:nvPr/>
        </p:nvSpPr>
        <p:spPr>
          <a:xfrm>
            <a:off x="3048000" y="304519"/>
            <a:ext cx="2783134" cy="584775"/>
          </a:xfrm>
          <a:prstGeom prst="rect">
            <a:avLst/>
          </a:prstGeom>
          <a:noFill/>
        </p:spPr>
        <p:txBody>
          <a:bodyPr wrap="none" rtlCol="0">
            <a:spAutoFit/>
          </a:bodyPr>
          <a:lstStyle/>
          <a:p>
            <a:r>
              <a:rPr lang="en-IN" sz="3200" dirty="0">
                <a:solidFill>
                  <a:schemeClr val="accent1"/>
                </a:solidFill>
                <a:latin typeface="Times New Roman" panose="02020603050405020304" pitchFamily="18" charset="0"/>
                <a:cs typeface="Times New Roman" panose="02020603050405020304" pitchFamily="18" charset="0"/>
              </a:rPr>
              <a:t>Implementation</a:t>
            </a:r>
          </a:p>
        </p:txBody>
      </p:sp>
      <p:sp>
        <p:nvSpPr>
          <p:cNvPr id="5" name="TextBox 4">
            <a:extLst>
              <a:ext uri="{FF2B5EF4-FFF2-40B4-BE49-F238E27FC236}">
                <a16:creationId xmlns:a16="http://schemas.microsoft.com/office/drawing/2014/main" id="{BDF3387A-1CD5-1D72-A020-923DF7DC23A2}"/>
              </a:ext>
            </a:extLst>
          </p:cNvPr>
          <p:cNvSpPr txBox="1"/>
          <p:nvPr/>
        </p:nvSpPr>
        <p:spPr>
          <a:xfrm>
            <a:off x="533400" y="1447800"/>
            <a:ext cx="7391400" cy="5355312"/>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The implementation of the Stock Market Data Pipeline begins with collecting stock market information from an external financial API or dataset. Python is used to automate the data ingestion process and retrieve information such as stock symbols, dates, opening prices, closing prices, highest prices, lowest prices, and trading volumes. Once the raw data is collected, it passes through a data-cleaning stage where missing values, duplicate records, incorrect formats, and inconsistent timestamps are identified and handled. The cleaned information is then transformed into a structured and standardized format suitable for analysis.</a:t>
            </a:r>
          </a:p>
          <a:p>
            <a:pPr>
              <a:buNone/>
            </a:pPr>
            <a:r>
              <a:rPr lang="en-US" dirty="0">
                <a:latin typeface="Times New Roman" panose="02020603050405020304" pitchFamily="18" charset="0"/>
                <a:cs typeface="Times New Roman" panose="02020603050405020304" pitchFamily="18" charset="0"/>
              </a:rPr>
              <a:t>After transformation, the processed stock data is stored in a database or data warehouse. This provides a centralized location for maintaining historical and current stock information. The stored data can then be queried and analyzed to identify changes in stock prices, trading volume, historical performance, and market trends. Finally, the processed information can be connected to visualization platforms such as Power BI, Tableau, or Python-based dashboards to present the results through charts and graphs. The complete workflow follows the sequence </a:t>
            </a:r>
            <a:r>
              <a:rPr lang="en-US" b="1" dirty="0">
                <a:latin typeface="Times New Roman" panose="02020603050405020304" pitchFamily="18" charset="0"/>
                <a:cs typeface="Times New Roman" panose="02020603050405020304" pitchFamily="18" charset="0"/>
              </a:rPr>
              <a:t>Data Source → Data Ingestion → Data Cleaning → Data Transformation → Data Storage → Data Analysis → Visualization</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40990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0224AC-BF59-7A33-CD65-1C342DB949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
        <p:nvSpPr>
          <p:cNvPr id="3" name="TextBox 2">
            <a:extLst>
              <a:ext uri="{FF2B5EF4-FFF2-40B4-BE49-F238E27FC236}">
                <a16:creationId xmlns:a16="http://schemas.microsoft.com/office/drawing/2014/main" id="{CE68F434-AB42-7BFB-1CBA-DDB6FF14C486}"/>
              </a:ext>
            </a:extLst>
          </p:cNvPr>
          <p:cNvSpPr txBox="1"/>
          <p:nvPr/>
        </p:nvSpPr>
        <p:spPr>
          <a:xfrm>
            <a:off x="3200400" y="273741"/>
            <a:ext cx="2287806" cy="646331"/>
          </a:xfrm>
          <a:prstGeom prst="rect">
            <a:avLst/>
          </a:prstGeom>
          <a:noFill/>
        </p:spPr>
        <p:txBody>
          <a:bodyPr wrap="none" rtlCol="0">
            <a:spAutoFit/>
          </a:bodyPr>
          <a:lstStyle/>
          <a:p>
            <a:r>
              <a:rPr lang="en-IN" sz="3600" dirty="0">
                <a:solidFill>
                  <a:schemeClr val="accent1"/>
                </a:solidFill>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22EC08D9-2B35-D2F2-E3B3-0C42210C9834}"/>
              </a:ext>
            </a:extLst>
          </p:cNvPr>
          <p:cNvSpPr txBox="1"/>
          <p:nvPr/>
        </p:nvSpPr>
        <p:spPr>
          <a:xfrm>
            <a:off x="457200" y="1600200"/>
            <a:ext cx="6477000" cy="440120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Stock Market Data Pipeline provides an automated and systematic approach for managing large amounts of financial data. Instead of manually collecting and processing stock information, the proposed system uses Python and data engineering techniques to collect, clean, transform, and store the data efficiently. The processed information can then be analyzed and visualized to understand stock performance and market trends. The project demonstrates the practical application of important data engineering concepts such as data ingestion, data cleaning, ETL/ELT processing, transformation, storage, automation, analysis, and visualization. Overall, the pipeline provides a reliable foundation for handling stock market data and preparing it for further financial analysis.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4962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2748</TotalTime>
  <Words>1119</Words>
  <Application>Microsoft Office PowerPoint</Application>
  <PresentationFormat>On-screen Show (4:3)</PresentationFormat>
  <Paragraphs>50</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Calibri</vt:lpstr>
      <vt:lpstr>Times New Roman</vt:lpstr>
      <vt:lpstr>Wingdings</vt:lpstr>
      <vt:lpstr>Office Theme</vt:lpstr>
      <vt:lpstr>     STOCK MARKET DATA PIPELINE      </vt:lpstr>
      <vt:lpstr>Table of contents</vt:lpstr>
      <vt:lpstr>Abstract</vt:lpstr>
      <vt:lpstr> Introduction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22101A010009</cp:lastModifiedBy>
  <cp:revision>213</cp:revision>
  <dcterms:created xsi:type="dcterms:W3CDTF">2006-08-16T00:00:00Z</dcterms:created>
  <dcterms:modified xsi:type="dcterms:W3CDTF">2026-08-24T16:46:20Z</dcterms:modified>
</cp:coreProperties>
</file>