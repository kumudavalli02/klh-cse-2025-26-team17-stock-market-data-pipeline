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86" r:id="rId2"/>
    <p:sldId id="288" r:id="rId3"/>
    <p:sldId id="287" r:id="rId4"/>
    <p:sldId id="289" r:id="rId5"/>
    <p:sldId id="302" r:id="rId6"/>
    <p:sldId id="303" r:id="rId7"/>
    <p:sldId id="290" r:id="rId8"/>
    <p:sldId id="296" r:id="rId9"/>
    <p:sldId id="304" r:id="rId10"/>
    <p:sldId id="305" r:id="rId11"/>
    <p:sldId id="306" r:id="rId12"/>
    <p:sldId id="307" r:id="rId13"/>
    <p:sldId id="292" r:id="rId14"/>
    <p:sldId id="317" r:id="rId15"/>
    <p:sldId id="293" r:id="rId16"/>
    <p:sldId id="298" r:id="rId17"/>
    <p:sldId id="294" r:id="rId18"/>
    <p:sldId id="301" r:id="rId19"/>
    <p:sldId id="295" r:id="rId20"/>
    <p:sldId id="299" r:id="rId21"/>
    <p:sldId id="300" r:id="rId22"/>
    <p:sldId id="314" r:id="rId23"/>
    <p:sldId id="315" r:id="rId24"/>
    <p:sldId id="316" r:id="rId25"/>
    <p:sldId id="310" r:id="rId26"/>
    <p:sldId id="308" r:id="rId27"/>
    <p:sldId id="313" r:id="rId28"/>
    <p:sldId id="311" r:id="rId29"/>
    <p:sldId id="312" r:id="rId30"/>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F9C4D1-49F9-4C2D-90CF-837BAD79785B}" v="10" dt="2026-09-13T15:49:10.3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611" autoAdjust="0"/>
    <p:restoredTop sz="95016" autoAdjust="0"/>
  </p:normalViewPr>
  <p:slideViewPr>
    <p:cSldViewPr>
      <p:cViewPr varScale="1">
        <p:scale>
          <a:sx n="100" d="100"/>
          <a:sy n="100" d="100"/>
        </p:scale>
        <p:origin x="1224" y="1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10/25/26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82A2A7-8E58-4AA3-854C-AFDBFBEC253A}" type="slidenum">
              <a:rPr lang="en-US" smtClean="0"/>
              <a:pPr/>
              <a:t>1</a:t>
            </a:fld>
            <a:endParaRPr lang="en-US"/>
          </a:p>
        </p:txBody>
      </p:sp>
    </p:spTree>
    <p:extLst>
      <p:ext uri="{BB962C8B-B14F-4D97-AF65-F5344CB8AC3E}">
        <p14:creationId xmlns:p14="http://schemas.microsoft.com/office/powerpoint/2010/main" val="15774369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32"/>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6"/>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20"/>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6"/>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6"/>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3"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3"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9"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9"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1" y="273057"/>
            <a:ext cx="5111751"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5"/>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5"/>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6"/>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7"/>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D8BD707-D9CF-40AE-B4C6-C98DA3205C09}" type="datetimeFigureOut">
              <a:rPr lang="en-US" smtClean="0"/>
              <a:pPr/>
              <a:t>10/25/26</a:t>
            </a:fld>
            <a:endParaRPr lang="en-US"/>
          </a:p>
        </p:txBody>
      </p:sp>
      <p:sp>
        <p:nvSpPr>
          <p:cNvPr id="5" name="Footer Placeholder 4"/>
          <p:cNvSpPr>
            <a:spLocks noGrp="1"/>
          </p:cNvSpPr>
          <p:nvPr>
            <p:ph type="ftr" sz="quarter" idx="3"/>
          </p:nvPr>
        </p:nvSpPr>
        <p:spPr>
          <a:xfrm>
            <a:off x="3124200" y="6356357"/>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7"/>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klh.edu.i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43050" y="695499"/>
            <a:ext cx="6153150" cy="176589"/>
          </a:xfrm>
        </p:spPr>
        <p:txBody>
          <a:bodyPr>
            <a:normAutofit fontScale="90000"/>
          </a:bodyPr>
          <a:lstStyle/>
          <a:p>
            <a:pPr>
              <a:defRPr/>
            </a:pPr>
            <a:br>
              <a:rPr lang="en-US" sz="1350" dirty="0">
                <a:latin typeface="Times New Roman" pitchFamily="18" charset="0"/>
                <a:cs typeface="Times New Roman" pitchFamily="18" charset="0"/>
              </a:rPr>
            </a:br>
            <a:br>
              <a:rPr lang="en-US" sz="1350" dirty="0">
                <a:latin typeface="Times New Roman" pitchFamily="18" charset="0"/>
                <a:cs typeface="Times New Roman" pitchFamily="18" charset="0"/>
              </a:rPr>
            </a:br>
            <a:br>
              <a:rPr lang="en-US" sz="1350" dirty="0">
                <a:latin typeface="Times New Roman" pitchFamily="18" charset="0"/>
                <a:cs typeface="Times New Roman" pitchFamily="18" charset="0"/>
              </a:rPr>
            </a:br>
            <a:br>
              <a:rPr lang="en-US" sz="1350" dirty="0">
                <a:latin typeface="Times New Roman" pitchFamily="18" charset="0"/>
                <a:cs typeface="Times New Roman" pitchFamily="18" charset="0"/>
              </a:rPr>
            </a:br>
            <a:r>
              <a:rPr lang="en-US" sz="2000" dirty="0">
                <a:latin typeface="Times New Roman" pitchFamily="18" charset="0"/>
                <a:cs typeface="Times New Roman" pitchFamily="18" charset="0"/>
              </a:rPr>
              <a:t>	</a:t>
            </a:r>
            <a:br>
              <a:rPr lang="en-US" sz="2200" dirty="0">
                <a:latin typeface="Times New Roman" pitchFamily="18" charset="0"/>
                <a:cs typeface="Times New Roman" pitchFamily="18" charset="0"/>
              </a:rPr>
            </a:br>
            <a:r>
              <a:rPr lang="en-US" sz="2200" dirty="0">
                <a:latin typeface="Times New Roman" pitchFamily="18" charset="0"/>
                <a:cs typeface="Times New Roman" pitchFamily="18" charset="0"/>
              </a:rPr>
              <a:t> </a:t>
            </a:r>
            <a:br>
              <a:rPr lang="en-US" b="1" dirty="0"/>
            </a:br>
            <a:endParaRPr lang="en-US" sz="3000" b="1" dirty="0">
              <a:latin typeface="Times New Roman" pitchFamily="18" charset="0"/>
              <a:cs typeface="Times New Roman" pitchFamily="18" charset="0"/>
            </a:endParaRPr>
          </a:p>
        </p:txBody>
      </p:sp>
      <p:sp>
        <p:nvSpPr>
          <p:cNvPr id="3" name="Subtitle 2"/>
          <p:cNvSpPr>
            <a:spLocks noGrp="1"/>
          </p:cNvSpPr>
          <p:nvPr>
            <p:ph type="subTitle" idx="1"/>
          </p:nvPr>
        </p:nvSpPr>
        <p:spPr>
          <a:xfrm>
            <a:off x="1428750" y="872088"/>
            <a:ext cx="6343650" cy="2799768"/>
          </a:xfrm>
        </p:spPr>
        <p:txBody>
          <a:bodyPr>
            <a:normAutofit fontScale="25000" lnSpcReduction="20000"/>
          </a:bodyPr>
          <a:lstStyle/>
          <a:p>
            <a:pPr>
              <a:lnSpc>
                <a:spcPct val="80000"/>
              </a:lnSpc>
              <a:defRPr/>
            </a:pPr>
            <a:endParaRPr lang="en-US" sz="1500" dirty="0">
              <a:solidFill>
                <a:srgbClr val="0D0D0D"/>
              </a:solidFill>
              <a:latin typeface="Times New Roman" pitchFamily="18" charset="0"/>
              <a:cs typeface="Times New Roman" pitchFamily="18" charset="0"/>
            </a:endParaRPr>
          </a:p>
          <a:p>
            <a:pPr>
              <a:lnSpc>
                <a:spcPct val="80000"/>
              </a:lnSpc>
              <a:defRPr/>
            </a:pPr>
            <a:r>
              <a:rPr lang="en-US" sz="8000" b="1" dirty="0">
                <a:solidFill>
                  <a:schemeClr val="tx1"/>
                </a:solidFill>
                <a:latin typeface="Times New Roman" pitchFamily="18" charset="0"/>
                <a:cs typeface="Times New Roman" pitchFamily="18" charset="0"/>
              </a:rPr>
              <a:t>REVIEW – 3</a:t>
            </a:r>
          </a:p>
          <a:p>
            <a:pPr>
              <a:lnSpc>
                <a:spcPct val="80000"/>
              </a:lnSpc>
              <a:defRPr/>
            </a:pPr>
            <a:endParaRPr lang="en-US" sz="8000" b="1" dirty="0">
              <a:solidFill>
                <a:schemeClr val="tx1"/>
              </a:solidFill>
              <a:latin typeface="Times New Roman" pitchFamily="18" charset="0"/>
              <a:cs typeface="Times New Roman" pitchFamily="18" charset="0"/>
            </a:endParaRPr>
          </a:p>
          <a:p>
            <a:pPr>
              <a:lnSpc>
                <a:spcPct val="80000"/>
              </a:lnSpc>
              <a:defRPr/>
            </a:pPr>
            <a:r>
              <a:rPr lang="en-US" sz="5600" b="1" dirty="0">
                <a:solidFill>
                  <a:schemeClr val="tx1"/>
                </a:solidFill>
                <a:latin typeface="Times New Roman" pitchFamily="18" charset="0"/>
                <a:cs typeface="Times New Roman" pitchFamily="18" charset="0"/>
              </a:rPr>
              <a:t>Batch 17 - Section 4</a:t>
            </a:r>
          </a:p>
          <a:p>
            <a:pPr>
              <a:lnSpc>
                <a:spcPct val="80000"/>
              </a:lnSpc>
              <a:defRPr/>
            </a:pPr>
            <a:endParaRPr lang="en-US" sz="6400" b="1" dirty="0">
              <a:solidFill>
                <a:schemeClr val="tx1"/>
              </a:solidFill>
              <a:latin typeface="Times New Roman" pitchFamily="18" charset="0"/>
              <a:cs typeface="Times New Roman" pitchFamily="18" charset="0"/>
            </a:endParaRPr>
          </a:p>
          <a:p>
            <a:pPr>
              <a:lnSpc>
                <a:spcPct val="80000"/>
              </a:lnSpc>
              <a:defRPr/>
            </a:pPr>
            <a:r>
              <a:rPr lang="en-US" sz="6400" b="1" dirty="0">
                <a:solidFill>
                  <a:srgbClr val="0070C0"/>
                </a:solidFill>
                <a:latin typeface="Times New Roman" pitchFamily="18" charset="0"/>
                <a:cs typeface="Times New Roman" pitchFamily="18" charset="0"/>
              </a:rPr>
              <a:t> </a:t>
            </a:r>
            <a:r>
              <a:rPr lang="en-US" sz="7200" b="1" dirty="0">
                <a:solidFill>
                  <a:srgbClr val="0070C0"/>
                </a:solidFill>
                <a:latin typeface="Times New Roman" pitchFamily="18" charset="0"/>
                <a:cs typeface="Times New Roman" pitchFamily="18" charset="0"/>
              </a:rPr>
              <a:t>Team members</a:t>
            </a:r>
            <a:endParaRPr lang="en-US" sz="6400" b="1" dirty="0">
              <a:solidFill>
                <a:schemeClr val="tx1"/>
              </a:solidFill>
              <a:latin typeface="Times New Roman" pitchFamily="18" charset="0"/>
              <a:cs typeface="Times New Roman" pitchFamily="18" charset="0"/>
            </a:endParaRPr>
          </a:p>
          <a:p>
            <a:pPr>
              <a:lnSpc>
                <a:spcPct val="80000"/>
              </a:lnSpc>
              <a:defRPr/>
            </a:pPr>
            <a:endParaRPr lang="en-US" sz="4900" b="1" dirty="0">
              <a:solidFill>
                <a:srgbClr val="00B0F0"/>
              </a:solidFill>
              <a:latin typeface="Times New Roman" pitchFamily="18" charset="0"/>
              <a:cs typeface="Times New Roman" pitchFamily="18" charset="0"/>
            </a:endParaRPr>
          </a:p>
          <a:p>
            <a:pPr algn="l">
              <a:lnSpc>
                <a:spcPct val="80000"/>
              </a:lnSpc>
              <a:defRPr/>
            </a:pPr>
            <a:r>
              <a:rPr lang="en-US" sz="4900" b="1" dirty="0">
                <a:solidFill>
                  <a:schemeClr val="tx1"/>
                </a:solidFill>
                <a:latin typeface="Times New Roman" pitchFamily="18" charset="0"/>
                <a:cs typeface="Times New Roman" pitchFamily="18" charset="0"/>
              </a:rPr>
              <a:t>                                                               </a:t>
            </a:r>
            <a:r>
              <a:rPr lang="en-US" sz="4800" b="1" dirty="0">
                <a:solidFill>
                  <a:schemeClr val="tx1"/>
                </a:solidFill>
                <a:latin typeface="Times New Roman" pitchFamily="18" charset="0"/>
                <a:cs typeface="Times New Roman" pitchFamily="18" charset="0"/>
              </a:rPr>
              <a:t>Roll No             Name</a:t>
            </a:r>
          </a:p>
          <a:p>
            <a:pPr algn="l">
              <a:lnSpc>
                <a:spcPct val="80000"/>
              </a:lnSpc>
              <a:defRPr/>
            </a:pPr>
            <a:endParaRPr lang="en-US" sz="4800" dirty="0">
              <a:solidFill>
                <a:schemeClr val="tx1"/>
              </a:solidFill>
              <a:latin typeface="Times New Roman" pitchFamily="18" charset="0"/>
              <a:cs typeface="Times New Roman" pitchFamily="18" charset="0"/>
            </a:endParaRPr>
          </a:p>
          <a:p>
            <a:pPr algn="l">
              <a:lnSpc>
                <a:spcPct val="80000"/>
              </a:lnSpc>
              <a:defRPr/>
            </a:pPr>
            <a:r>
              <a:rPr lang="en-US" sz="4800" dirty="0">
                <a:solidFill>
                  <a:schemeClr val="tx1"/>
                </a:solidFill>
                <a:latin typeface="Times New Roman" pitchFamily="18" charset="0"/>
                <a:cs typeface="Times New Roman" pitchFamily="18" charset="0"/>
              </a:rPr>
              <a:t>                                                             2420030415     </a:t>
            </a:r>
            <a:r>
              <a:rPr lang="en-US" sz="4800" dirty="0" err="1">
                <a:solidFill>
                  <a:schemeClr val="tx1"/>
                </a:solidFill>
                <a:latin typeface="Times New Roman" pitchFamily="18" charset="0"/>
                <a:cs typeface="Times New Roman" pitchFamily="18" charset="0"/>
              </a:rPr>
              <a:t>G.Rithwik</a:t>
            </a:r>
            <a:endParaRPr lang="en-US" sz="4800" dirty="0">
              <a:solidFill>
                <a:schemeClr val="tx1"/>
              </a:solidFill>
              <a:latin typeface="Times New Roman" pitchFamily="18" charset="0"/>
              <a:cs typeface="Times New Roman" pitchFamily="18" charset="0"/>
            </a:endParaRPr>
          </a:p>
          <a:p>
            <a:pPr algn="l">
              <a:lnSpc>
                <a:spcPct val="80000"/>
              </a:lnSpc>
              <a:defRPr/>
            </a:pPr>
            <a:r>
              <a:rPr lang="en-US" sz="4800" dirty="0">
                <a:solidFill>
                  <a:schemeClr val="tx1"/>
                </a:solidFill>
                <a:latin typeface="Times New Roman" pitchFamily="18" charset="0"/>
                <a:cs typeface="Times New Roman" pitchFamily="18" charset="0"/>
              </a:rPr>
              <a:t>                                                             2420030592     </a:t>
            </a:r>
            <a:r>
              <a:rPr lang="en-US" sz="4800" dirty="0" err="1">
                <a:solidFill>
                  <a:schemeClr val="tx1"/>
                </a:solidFill>
                <a:latin typeface="Times New Roman" pitchFamily="18" charset="0"/>
                <a:cs typeface="Times New Roman" pitchFamily="18" charset="0"/>
              </a:rPr>
              <a:t>J.Kumudavalli</a:t>
            </a:r>
            <a:endParaRPr lang="en-US" sz="4800" dirty="0">
              <a:solidFill>
                <a:schemeClr val="tx1"/>
              </a:solidFill>
              <a:latin typeface="Times New Roman" pitchFamily="18" charset="0"/>
              <a:cs typeface="Times New Roman" pitchFamily="18" charset="0"/>
            </a:endParaRPr>
          </a:p>
          <a:p>
            <a:pPr algn="l">
              <a:lnSpc>
                <a:spcPct val="80000"/>
              </a:lnSpc>
              <a:defRPr/>
            </a:pPr>
            <a:r>
              <a:rPr lang="en-US" sz="4800" dirty="0">
                <a:solidFill>
                  <a:schemeClr val="tx1"/>
                </a:solidFill>
                <a:latin typeface="Times New Roman" pitchFamily="18" charset="0"/>
                <a:cs typeface="Times New Roman" pitchFamily="18" charset="0"/>
              </a:rPr>
              <a:t>                                                             2420090113     </a:t>
            </a:r>
            <a:r>
              <a:rPr lang="en-US" sz="4800" dirty="0" err="1">
                <a:solidFill>
                  <a:schemeClr val="tx1"/>
                </a:solidFill>
                <a:latin typeface="Times New Roman" pitchFamily="18" charset="0"/>
                <a:cs typeface="Times New Roman" pitchFamily="18" charset="0"/>
              </a:rPr>
              <a:t>T.Ram</a:t>
            </a:r>
            <a:r>
              <a:rPr lang="en-US" sz="4800" dirty="0">
                <a:solidFill>
                  <a:schemeClr val="tx1"/>
                </a:solidFill>
                <a:latin typeface="Times New Roman" pitchFamily="18" charset="0"/>
                <a:cs typeface="Times New Roman" pitchFamily="18" charset="0"/>
              </a:rPr>
              <a:t> Tejaswi Reddy</a:t>
            </a:r>
          </a:p>
          <a:p>
            <a:pPr algn="l">
              <a:lnSpc>
                <a:spcPct val="80000"/>
              </a:lnSpc>
              <a:defRPr/>
            </a:pPr>
            <a:endParaRPr lang="en-US" sz="4800" dirty="0">
              <a:solidFill>
                <a:schemeClr val="tx1"/>
              </a:solidFill>
              <a:latin typeface="Times New Roman" pitchFamily="18" charset="0"/>
              <a:cs typeface="Times New Roman" pitchFamily="18" charset="0"/>
            </a:endParaRPr>
          </a:p>
          <a:p>
            <a:pPr>
              <a:lnSpc>
                <a:spcPct val="80000"/>
              </a:lnSpc>
              <a:defRPr/>
            </a:pPr>
            <a:endParaRPr lang="en-US" sz="4200" dirty="0">
              <a:solidFill>
                <a:srgbClr val="0D0D0D"/>
              </a:solidFill>
              <a:latin typeface="Times New Roman" pitchFamily="18" charset="0"/>
              <a:cs typeface="Times New Roman" pitchFamily="18" charset="0"/>
            </a:endParaRPr>
          </a:p>
          <a:p>
            <a:pPr>
              <a:lnSpc>
                <a:spcPct val="80000"/>
              </a:lnSpc>
              <a:defRPr/>
            </a:pPr>
            <a:endParaRPr lang="en-US" sz="4200" b="1" dirty="0">
              <a:solidFill>
                <a:srgbClr val="FF0000"/>
              </a:solidFill>
              <a:latin typeface="Times New Roman" pitchFamily="18" charset="0"/>
              <a:cs typeface="Times New Roman" pitchFamily="18" charset="0"/>
            </a:endParaRPr>
          </a:p>
          <a:p>
            <a:pPr>
              <a:lnSpc>
                <a:spcPct val="80000"/>
              </a:lnSpc>
              <a:defRPr/>
            </a:pPr>
            <a:r>
              <a:rPr lang="en-GB" sz="4200" b="1" i="1" dirty="0">
                <a:solidFill>
                  <a:srgbClr val="FF0000"/>
                </a:solidFill>
                <a:latin typeface="Times New Roman" panose="02020603050405020304" pitchFamily="18" charset="0"/>
                <a:ea typeface="Times New Roman" panose="02020603050405020304" pitchFamily="18" charset="0"/>
              </a:rPr>
              <a:t>Under the guidance of </a:t>
            </a:r>
          </a:p>
          <a:p>
            <a:pPr>
              <a:lnSpc>
                <a:spcPct val="80000"/>
              </a:lnSpc>
              <a:defRPr/>
            </a:pPr>
            <a:endParaRPr lang="en-US" sz="4200" dirty="0">
              <a:solidFill>
                <a:srgbClr val="0D0D0D"/>
              </a:solidFill>
              <a:latin typeface="Times New Roman" pitchFamily="18" charset="0"/>
              <a:cs typeface="Times New Roman" pitchFamily="18" charset="0"/>
            </a:endParaRPr>
          </a:p>
          <a:p>
            <a:pPr>
              <a:lnSpc>
                <a:spcPct val="80000"/>
              </a:lnSpc>
              <a:defRPr/>
            </a:pPr>
            <a:r>
              <a:rPr lang="en-US" sz="5600" b="1" dirty="0">
                <a:solidFill>
                  <a:schemeClr val="tx1"/>
                </a:solidFill>
                <a:latin typeface="Times New Roman" panose="02020603050405020304" pitchFamily="18" charset="0"/>
                <a:cs typeface="Times New Roman" panose="02020603050405020304" pitchFamily="18" charset="0"/>
              </a:rPr>
              <a:t>Dr. Nalla Shirisha</a:t>
            </a:r>
          </a:p>
          <a:p>
            <a:pPr>
              <a:lnSpc>
                <a:spcPct val="80000"/>
              </a:lnSpc>
              <a:defRPr/>
            </a:pPr>
            <a:endParaRPr lang="en-US" sz="4200" b="1" dirty="0">
              <a:solidFill>
                <a:schemeClr val="tx1"/>
              </a:solidFill>
              <a:latin typeface="Times New Roman" panose="02020603050405020304" pitchFamily="18" charset="0"/>
              <a:cs typeface="Times New Roman" panose="02020603050405020304" pitchFamily="18" charset="0"/>
            </a:endParaRPr>
          </a:p>
          <a:p>
            <a:pPr>
              <a:lnSpc>
                <a:spcPct val="80000"/>
              </a:lnSpc>
              <a:defRPr/>
            </a:pPr>
            <a:r>
              <a:rPr lang="en-US" sz="4200" b="1" dirty="0">
                <a:solidFill>
                  <a:schemeClr val="tx1"/>
                </a:solidFill>
                <a:latin typeface="Times New Roman" panose="02020603050405020304" pitchFamily="18" charset="0"/>
                <a:cs typeface="Times New Roman" panose="02020603050405020304" pitchFamily="18" charset="0"/>
              </a:rPr>
              <a:t>Associate Professor </a:t>
            </a:r>
          </a:p>
          <a:p>
            <a:pPr>
              <a:lnSpc>
                <a:spcPct val="80000"/>
              </a:lnSpc>
              <a:defRPr/>
            </a:pPr>
            <a:endParaRPr lang="en-US" sz="4200" b="1" dirty="0">
              <a:solidFill>
                <a:schemeClr val="tx1"/>
              </a:solidFill>
              <a:latin typeface="Times New Roman" panose="02020603050405020304" pitchFamily="18" charset="0"/>
              <a:cs typeface="Times New Roman" panose="02020603050405020304" pitchFamily="18" charset="0"/>
            </a:endParaRPr>
          </a:p>
          <a:p>
            <a:pPr>
              <a:lnSpc>
                <a:spcPct val="80000"/>
              </a:lnSpc>
              <a:defRPr/>
            </a:pPr>
            <a:r>
              <a:rPr lang="en-US" sz="5600" b="1" dirty="0">
                <a:solidFill>
                  <a:srgbClr val="0070C0"/>
                </a:solidFill>
                <a:latin typeface="Times New Roman" pitchFamily="18" charset="0"/>
                <a:cs typeface="Times New Roman" pitchFamily="18" charset="0"/>
              </a:rPr>
              <a:t>Department of Computer Science and Engineering</a:t>
            </a:r>
          </a:p>
          <a:p>
            <a:pPr>
              <a:lnSpc>
                <a:spcPct val="80000"/>
              </a:lnSpc>
              <a:defRPr/>
            </a:pPr>
            <a:r>
              <a:rPr lang="en-US" sz="4200" b="1" dirty="0">
                <a:solidFill>
                  <a:srgbClr val="0D0D0D"/>
                </a:solidFill>
                <a:latin typeface="Times New Roman" pitchFamily="18" charset="0"/>
                <a:cs typeface="Times New Roman" pitchFamily="18" charset="0"/>
              </a:rPr>
              <a:t>                                                </a:t>
            </a:r>
            <a:r>
              <a:rPr lang="en-US" sz="4200" dirty="0">
                <a:solidFill>
                  <a:srgbClr val="0D0D0D"/>
                </a:solidFill>
                <a:latin typeface="Times New Roman" pitchFamily="18" charset="0"/>
                <a:cs typeface="Times New Roman" pitchFamily="18" charset="0"/>
              </a:rPr>
              <a:t>                              </a:t>
            </a:r>
            <a:r>
              <a:rPr lang="en-US" sz="18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1447800" y="5115098"/>
            <a:ext cx="6858000" cy="1047403"/>
          </a:xfrm>
          <a:prstGeom prst="rect">
            <a:avLst/>
          </a:prstGeom>
          <a:noFill/>
        </p:spPr>
        <p:txBody>
          <a:bodyPr wrap="square">
            <a:spAutoFit/>
          </a:bodyPr>
          <a:lstStyle/>
          <a:p>
            <a:pPr algn="ctr">
              <a:lnSpc>
                <a:spcPct val="107000"/>
              </a:lnSpc>
              <a:spcBef>
                <a:spcPts val="1166"/>
              </a:spcBef>
              <a:spcAft>
                <a:spcPts val="600"/>
              </a:spcAft>
            </a:pPr>
            <a:r>
              <a:rPr lang="en-GB" sz="2100" b="1" kern="100" dirty="0">
                <a:latin typeface="Times New Roman" panose="02020603050405020304" pitchFamily="18" charset="0"/>
                <a:ea typeface="Times New Roman" panose="02020603050405020304" pitchFamily="18" charset="0"/>
                <a:cs typeface="Times New Roman" panose="02020603050405020304" pitchFamily="18" charset="0"/>
              </a:rPr>
              <a:t>Koneru </a:t>
            </a:r>
            <a:r>
              <a:rPr lang="en-GB" sz="2100" b="1" kern="100" dirty="0" err="1">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100" b="1" kern="100" dirty="0">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sz="1350" b="1" kern="100" dirty="0" err="1">
                <a:latin typeface="Times New Roman" panose="02020603050405020304" pitchFamily="18" charset="0"/>
                <a:ea typeface="Times New Roman" panose="02020603050405020304" pitchFamily="18" charset="0"/>
                <a:cs typeface="Times New Roman" panose="02020603050405020304" pitchFamily="18" charset="0"/>
              </a:rPr>
              <a:t>estd</a:t>
            </a:r>
            <a: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200" b="1" kern="100" dirty="0" err="1">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 Road, </a:t>
            </a:r>
            <a:r>
              <a:rPr lang="en-GB" sz="1200" b="1" kern="100" dirty="0" err="1">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200" b="1" u="sng" kern="100" dirty="0">
                <a:solidFill>
                  <a:srgbClr val="467886"/>
                </a:solidFill>
                <a:latin typeface="Times New Roman" panose="02020603050405020304" pitchFamily="18" charset="0"/>
                <a:ea typeface="Times New Roman" panose="02020603050405020304" pitchFamily="18" charset="0"/>
                <a:cs typeface="Times New Roman" panose="02020603050405020304" pitchFamily="18" charset="0"/>
                <a:hlinkClick r:id="rId3"/>
              </a:rPr>
              <a:t>www.klh.edu.in</a:t>
            </a:r>
            <a:endParaRPr lang="en-US" sz="1200" kern="100" dirty="0">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33800" y="4343400"/>
            <a:ext cx="1874990" cy="939785"/>
          </a:xfrm>
          <a:prstGeom prst="rect">
            <a:avLst/>
          </a:prstGeom>
          <a:noFill/>
          <a:ln>
            <a:noFill/>
          </a:ln>
        </p:spPr>
      </p:pic>
      <p:sp>
        <p:nvSpPr>
          <p:cNvPr id="4" name="TextBox 3">
            <a:extLst>
              <a:ext uri="{FF2B5EF4-FFF2-40B4-BE49-F238E27FC236}">
                <a16:creationId xmlns:a16="http://schemas.microsoft.com/office/drawing/2014/main" id="{CB23BAAF-6108-DE64-342F-DE679B27F94C}"/>
              </a:ext>
            </a:extLst>
          </p:cNvPr>
          <p:cNvSpPr txBox="1"/>
          <p:nvPr/>
        </p:nvSpPr>
        <p:spPr>
          <a:xfrm>
            <a:off x="2000730" y="274706"/>
            <a:ext cx="5695470" cy="523220"/>
          </a:xfrm>
          <a:prstGeom prst="rect">
            <a:avLst/>
          </a:prstGeom>
          <a:noFill/>
        </p:spPr>
        <p:txBody>
          <a:bodyPr wrap="none" rtlCol="0">
            <a:spAutoFit/>
          </a:bodyPr>
          <a:lstStyle/>
          <a:p>
            <a:r>
              <a:rPr lang="en-IN" sz="2800" dirty="0">
                <a:solidFill>
                  <a:schemeClr val="accent1"/>
                </a:solidFill>
                <a:latin typeface="Times New Roman" panose="02020603050405020304" pitchFamily="18" charset="0"/>
                <a:cs typeface="Times New Roman" panose="02020603050405020304" pitchFamily="18" charset="0"/>
              </a:rPr>
              <a:t>STOCK MARKET DATA  PIPELINE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153BB-F2D9-5981-3911-E3CD62AA894A}"/>
              </a:ext>
            </a:extLst>
          </p:cNvPr>
          <p:cNvSpPr>
            <a:spLocks noGrp="1"/>
          </p:cNvSpPr>
          <p:nvPr>
            <p:ph type="title"/>
          </p:nvPr>
        </p:nvSpPr>
        <p:spPr>
          <a:xfrm>
            <a:off x="457200" y="575476"/>
            <a:ext cx="8229600" cy="1143000"/>
          </a:xfrm>
        </p:spPr>
        <p:txBody>
          <a:bodyPr>
            <a:normAutofit/>
          </a:bodyPr>
          <a:lstStyle/>
          <a:p>
            <a:r>
              <a:rPr lang="en-IN" b="1" dirty="0">
                <a:solidFill>
                  <a:srgbClr val="0070C0"/>
                </a:solidFill>
                <a:latin typeface="Times New Roman" panose="02020603050405020304" pitchFamily="18" charset="0"/>
                <a:cs typeface="Times New Roman" panose="02020603050405020304" pitchFamily="18" charset="0"/>
              </a:rPr>
              <a:t>Table of contents</a:t>
            </a:r>
          </a:p>
        </p:txBody>
      </p:sp>
      <p:sp>
        <p:nvSpPr>
          <p:cNvPr id="3" name="Content Placeholder 2">
            <a:extLst>
              <a:ext uri="{FF2B5EF4-FFF2-40B4-BE49-F238E27FC236}">
                <a16:creationId xmlns:a16="http://schemas.microsoft.com/office/drawing/2014/main" id="{CF031362-F3B1-87A9-8AC6-43B4226021DE}"/>
              </a:ext>
            </a:extLst>
          </p:cNvPr>
          <p:cNvSpPr>
            <a:spLocks noGrp="1"/>
          </p:cNvSpPr>
          <p:nvPr>
            <p:ph idx="1"/>
          </p:nvPr>
        </p:nvSpPr>
        <p:spPr>
          <a:xfrm>
            <a:off x="457200" y="1943893"/>
            <a:ext cx="8229600" cy="4525963"/>
          </a:xfrm>
        </p:spPr>
        <p:txBody>
          <a:bodyPr>
            <a:normAutofit lnSpcReduction="10000"/>
          </a:bodyPr>
          <a:lstStyle/>
          <a:p>
            <a:r>
              <a:rPr lang="en-IN" sz="1800" dirty="0">
                <a:latin typeface="Times New Roman" panose="02020603050405020304" pitchFamily="18" charset="0"/>
                <a:cs typeface="Times New Roman" panose="02020603050405020304" pitchFamily="18" charset="0"/>
              </a:rPr>
              <a:t>ABSTRACT</a:t>
            </a:r>
          </a:p>
          <a:p>
            <a:r>
              <a:rPr lang="en-IN" sz="1800" dirty="0">
                <a:latin typeface="Times New Roman" panose="02020603050405020304" pitchFamily="18" charset="0"/>
                <a:cs typeface="Times New Roman" panose="02020603050405020304" pitchFamily="18" charset="0"/>
              </a:rPr>
              <a:t>INTRODUCTION</a:t>
            </a:r>
          </a:p>
          <a:p>
            <a:r>
              <a:rPr lang="en-IN" sz="1800" dirty="0">
                <a:latin typeface="Times New Roman" panose="02020603050405020304" pitchFamily="18" charset="0"/>
                <a:cs typeface="Times New Roman" panose="02020603050405020304" pitchFamily="18" charset="0"/>
              </a:rPr>
              <a:t>EXISTING SYSTEM</a:t>
            </a:r>
          </a:p>
          <a:p>
            <a:r>
              <a:rPr lang="en-IN" sz="1800" dirty="0">
                <a:latin typeface="Times New Roman" panose="02020603050405020304" pitchFamily="18" charset="0"/>
                <a:cs typeface="Times New Roman" panose="02020603050405020304" pitchFamily="18" charset="0"/>
              </a:rPr>
              <a:t>PROPOSED SYSTEM</a:t>
            </a:r>
          </a:p>
          <a:p>
            <a:r>
              <a:rPr lang="en-IN" sz="1800" dirty="0">
                <a:latin typeface="Times New Roman" panose="02020603050405020304" pitchFamily="18" charset="0"/>
                <a:cs typeface="Times New Roman" panose="02020603050405020304" pitchFamily="18" charset="0"/>
              </a:rPr>
              <a:t>OBJECTIVES</a:t>
            </a:r>
          </a:p>
          <a:p>
            <a:r>
              <a:rPr lang="en-IN" sz="1800" dirty="0">
                <a:latin typeface="Times New Roman" panose="02020603050405020304" pitchFamily="18" charset="0"/>
                <a:cs typeface="Times New Roman" panose="02020603050405020304" pitchFamily="18" charset="0"/>
              </a:rPr>
              <a:t>LITERATURE SURVEY</a:t>
            </a:r>
          </a:p>
          <a:p>
            <a:r>
              <a:rPr lang="en-IN" sz="1800" dirty="0">
                <a:latin typeface="Times New Roman" panose="02020603050405020304" pitchFamily="18" charset="0"/>
                <a:cs typeface="Times New Roman" panose="02020603050405020304" pitchFamily="18" charset="0"/>
              </a:rPr>
              <a:t>SOFTWARE REQUIREMENTS</a:t>
            </a:r>
          </a:p>
          <a:p>
            <a:r>
              <a:rPr lang="en-IN" sz="1800" dirty="0">
                <a:latin typeface="Times New Roman" panose="02020603050405020304" pitchFamily="18" charset="0"/>
                <a:cs typeface="Times New Roman" panose="02020603050405020304" pitchFamily="18" charset="0"/>
              </a:rPr>
              <a:t>HARDWARE REQUIREMENTS</a:t>
            </a:r>
          </a:p>
          <a:p>
            <a:r>
              <a:rPr lang="en-IN" sz="1800" dirty="0">
                <a:latin typeface="Times New Roman" panose="02020603050405020304" pitchFamily="18" charset="0"/>
                <a:cs typeface="Times New Roman" panose="02020603050405020304" pitchFamily="18" charset="0"/>
              </a:rPr>
              <a:t>FUNCTIONAL REQUIREMENTS</a:t>
            </a:r>
          </a:p>
          <a:p>
            <a:r>
              <a:rPr lang="en-IN" sz="1800" dirty="0">
                <a:latin typeface="Times New Roman" panose="02020603050405020304" pitchFamily="18" charset="0"/>
                <a:cs typeface="Times New Roman" panose="02020603050405020304" pitchFamily="18" charset="0"/>
              </a:rPr>
              <a:t>NON-FUNCTIONAL REQUIREMENTS</a:t>
            </a:r>
          </a:p>
          <a:p>
            <a:r>
              <a:rPr lang="en-IN" sz="1800" dirty="0">
                <a:latin typeface="Times New Roman" panose="02020603050405020304" pitchFamily="18" charset="0"/>
                <a:cs typeface="Times New Roman" panose="02020603050405020304" pitchFamily="18" charset="0"/>
              </a:rPr>
              <a:t>SYSTEM ARCHITECTURE</a:t>
            </a:r>
          </a:p>
          <a:p>
            <a:r>
              <a:rPr lang="en-IN" sz="1800" dirty="0">
                <a:latin typeface="Times New Roman" panose="02020603050405020304" pitchFamily="18" charset="0"/>
                <a:cs typeface="Times New Roman" panose="02020603050405020304" pitchFamily="18" charset="0"/>
              </a:rPr>
              <a:t>UML DIAGRAM</a:t>
            </a:r>
          </a:p>
          <a:p>
            <a:r>
              <a:rPr lang="en-IN" sz="1800" dirty="0">
                <a:latin typeface="Times New Roman" panose="02020603050405020304" pitchFamily="18" charset="0"/>
                <a:cs typeface="Times New Roman" panose="02020603050405020304" pitchFamily="18" charset="0"/>
              </a:rPr>
              <a:t>METHODOLOGY, SYSTEM DESIGN AND ARCHITECTURE</a:t>
            </a:r>
          </a:p>
          <a:p>
            <a:r>
              <a:rPr lang="en-IN" sz="1800" dirty="0">
                <a:latin typeface="Times New Roman" panose="02020603050405020304" pitchFamily="18" charset="0"/>
                <a:cs typeface="Times New Roman" panose="02020603050405020304" pitchFamily="18" charset="0"/>
              </a:rPr>
              <a:t>OUTPUT AND RESULTS</a:t>
            </a: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E9BBE1ED-9619-00CD-BD74-A2BF998CD3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extLst>
      <p:ext uri="{BB962C8B-B14F-4D97-AF65-F5344CB8AC3E}">
        <p14:creationId xmlns:p14="http://schemas.microsoft.com/office/powerpoint/2010/main" val="3710676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5B172-09E0-EBC3-DE45-99E37BDA01FD}"/>
              </a:ext>
            </a:extLst>
          </p:cNvPr>
          <p:cNvSpPr>
            <a:spLocks noGrp="1"/>
          </p:cNvSpPr>
          <p:nvPr>
            <p:ph type="title"/>
          </p:nvPr>
        </p:nvSpPr>
        <p:spPr/>
        <p:txBody>
          <a:bodyPr>
            <a:normAutofit/>
          </a:bodyPr>
          <a:lstStyle/>
          <a:p>
            <a:r>
              <a:rPr lang="en-IN" b="1" dirty="0">
                <a:solidFill>
                  <a:srgbClr val="0070C0"/>
                </a:solidFill>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0EE91A77-D011-DA9A-7E65-578A3E30E6DE}"/>
              </a:ext>
            </a:extLst>
          </p:cNvPr>
          <p:cNvSpPr>
            <a:spLocks noGrp="1"/>
          </p:cNvSpPr>
          <p:nvPr>
            <p:ph idx="1"/>
          </p:nvPr>
        </p:nvSpPr>
        <p:spPr/>
        <p:txBody>
          <a:bodyPr>
            <a:normAutofit/>
          </a:bodyPr>
          <a:lstStyle/>
          <a:p>
            <a:pPr marL="0" indent="0" algn="just">
              <a:lnSpc>
                <a:spcPct val="100000"/>
              </a:lnSpc>
              <a:buNone/>
            </a:pPr>
            <a:r>
              <a:rPr lang="en-IN" sz="2000" dirty="0">
                <a:latin typeface="Times New Roman" panose="02020603050405020304" pitchFamily="18" charset="0"/>
                <a:cs typeface="Times New Roman" panose="02020603050405020304" pitchFamily="18" charset="0"/>
              </a:rPr>
              <a:t>The Stock Market Data Pipeline is designed to collect, process, and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stock market data in a structured and efficient manner. Stock market data such as opening price, closing price, highest price, lowest price, trading volume, and timestamps is collected from financial data sources or APIs. The pipeline cleans and preprocesses the collected data by handling missing, duplicate, inconsistent, or incorrect records and then transforms it into a suitable format for analysis. The processed data can be stored and </a:t>
            </a:r>
            <a:r>
              <a:rPr lang="en-IN" sz="2000" dirty="0" err="1">
                <a:latin typeface="Times New Roman" panose="02020603050405020304" pitchFamily="18" charset="0"/>
                <a:cs typeface="Times New Roman" panose="02020603050405020304" pitchFamily="18" charset="0"/>
              </a:rPr>
              <a:t>analyzed</a:t>
            </a:r>
            <a:r>
              <a:rPr lang="en-IN" sz="2000" dirty="0">
                <a:latin typeface="Times New Roman" panose="02020603050405020304" pitchFamily="18" charset="0"/>
                <a:cs typeface="Times New Roman" panose="02020603050405020304" pitchFamily="18" charset="0"/>
              </a:rPr>
              <a:t> to identify stock price movements, trends, trading patterns, and market </a:t>
            </a:r>
            <a:r>
              <a:rPr lang="en-IN" sz="2000" dirty="0" err="1">
                <a:latin typeface="Times New Roman" panose="02020603050405020304" pitchFamily="18" charset="0"/>
                <a:cs typeface="Times New Roman" panose="02020603050405020304" pitchFamily="18" charset="0"/>
              </a:rPr>
              <a:t>behavior</a:t>
            </a:r>
            <a:r>
              <a:rPr lang="en-IN" sz="2000" dirty="0">
                <a:latin typeface="Times New Roman" panose="02020603050405020304" pitchFamily="18" charset="0"/>
                <a:cs typeface="Times New Roman" panose="02020603050405020304" pitchFamily="18" charset="0"/>
              </a:rPr>
              <a:t>. Visualization techniques can be used to present the </a:t>
            </a:r>
            <a:r>
              <a:rPr lang="en-IN" sz="2000" dirty="0" err="1">
                <a:latin typeface="Times New Roman" panose="02020603050405020304" pitchFamily="18" charset="0"/>
                <a:cs typeface="Times New Roman" panose="02020603050405020304" pitchFamily="18" charset="0"/>
              </a:rPr>
              <a:t>analyzed</a:t>
            </a:r>
            <a:r>
              <a:rPr lang="en-IN" sz="2000" dirty="0">
                <a:latin typeface="Times New Roman" panose="02020603050405020304" pitchFamily="18" charset="0"/>
                <a:cs typeface="Times New Roman" panose="02020603050405020304" pitchFamily="18" charset="0"/>
              </a:rPr>
              <a:t> information through charts or dashboards, helping users understand market trends and make data-driven financial decisions.</a:t>
            </a:r>
          </a:p>
        </p:txBody>
      </p:sp>
      <p:pic>
        <p:nvPicPr>
          <p:cNvPr id="5" name="Picture 4">
            <a:extLst>
              <a:ext uri="{FF2B5EF4-FFF2-40B4-BE49-F238E27FC236}">
                <a16:creationId xmlns:a16="http://schemas.microsoft.com/office/drawing/2014/main" id="{96ECAE88-2134-CBB1-321C-D23F93B316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extLst>
      <p:ext uri="{BB962C8B-B14F-4D97-AF65-F5344CB8AC3E}">
        <p14:creationId xmlns:p14="http://schemas.microsoft.com/office/powerpoint/2010/main" val="3247634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B1297-D23B-EC58-2AC3-A4D43BD73A07}"/>
              </a:ext>
            </a:extLst>
          </p:cNvPr>
          <p:cNvSpPr>
            <a:spLocks noGrp="1"/>
          </p:cNvSpPr>
          <p:nvPr>
            <p:ph type="title"/>
          </p:nvPr>
        </p:nvSpPr>
        <p:spPr>
          <a:xfrm>
            <a:off x="-19050" y="480219"/>
            <a:ext cx="8458200" cy="715962"/>
          </a:xfrm>
        </p:spPr>
        <p:txBody>
          <a:bodyPr/>
          <a:lstStyle/>
          <a:p>
            <a:r>
              <a:rPr lang="en-IN" b="1" dirty="0">
                <a:latin typeface="Times New Roman" panose="02020603050405020304" pitchFamily="18" charset="0"/>
                <a:cs typeface="Times New Roman" panose="02020603050405020304" pitchFamily="18" charset="0"/>
              </a:rPr>
              <a:t>	</a:t>
            </a:r>
            <a:r>
              <a:rPr lang="en-IN" b="1" dirty="0">
                <a:solidFill>
                  <a:srgbClr val="0070C0"/>
                </a:solidFill>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0C410263-6437-6254-84C9-A69F7480C0AE}"/>
              </a:ext>
            </a:extLst>
          </p:cNvPr>
          <p:cNvSpPr>
            <a:spLocks noGrp="1"/>
          </p:cNvSpPr>
          <p:nvPr>
            <p:ph idx="1"/>
          </p:nvPr>
        </p:nvSpPr>
        <p:spPr>
          <a:xfrm>
            <a:off x="228600" y="1066800"/>
            <a:ext cx="8686800" cy="5029200"/>
          </a:xfrm>
        </p:spPr>
        <p:txBody>
          <a:bodyPr>
            <a:noAutofit/>
          </a:bodyPr>
          <a:lstStyle/>
          <a:p>
            <a:pPr marL="0" indent="0">
              <a:buNone/>
            </a:pPr>
            <a:r>
              <a:rPr lang="en-IN" sz="2000" dirty="0">
                <a:latin typeface="Times New Roman" panose="02020603050405020304" pitchFamily="18" charset="0"/>
                <a:cs typeface="Times New Roman" panose="02020603050405020304" pitchFamily="18" charset="0"/>
              </a:rPr>
              <a:t>The stock market produces a large amount of data every day through buying and selling activities. This data includes open, high, low, close prices, trading volume, timestamps, and other market information.</a:t>
            </a:r>
          </a:p>
          <a:p>
            <a:pPr marL="0" indent="0">
              <a:buNone/>
            </a:pPr>
            <a:r>
              <a:rPr lang="en-IN" sz="2000" dirty="0" err="1">
                <a:latin typeface="Times New Roman" panose="02020603050405020304" pitchFamily="18" charset="0"/>
                <a:cs typeface="Times New Roman" panose="02020603050405020304" pitchFamily="18" charset="0"/>
              </a:rPr>
              <a:t>Analyzing</a:t>
            </a:r>
            <a:r>
              <a:rPr lang="en-IN" sz="2000" dirty="0">
                <a:latin typeface="Times New Roman" panose="02020603050405020304" pitchFamily="18" charset="0"/>
                <a:cs typeface="Times New Roman" panose="02020603050405020304" pitchFamily="18" charset="0"/>
              </a:rPr>
              <a:t> raw stock market data directly can be difficult because the data may contain missing values, duplicate records, incorrect formats, and inconsistencies.</a:t>
            </a:r>
          </a:p>
          <a:p>
            <a:pPr marL="0" indent="0">
              <a:buNone/>
            </a:pPr>
            <a:r>
              <a:rPr lang="en-IN" sz="2000" dirty="0">
                <a:latin typeface="Times New Roman" panose="02020603050405020304" pitchFamily="18" charset="0"/>
                <a:cs typeface="Times New Roman" panose="02020603050405020304" pitchFamily="18" charset="0"/>
              </a:rPr>
              <a:t>A Stock Market Data Pipeline solves this problem by collecting market data and passing it through different processing stages. The pipeline cleans and transforms the raw data before storing it in a structured format.</a:t>
            </a:r>
          </a:p>
          <a:p>
            <a:pPr marL="0" indent="0">
              <a:buNone/>
            </a:pPr>
            <a:r>
              <a:rPr lang="en-IN" sz="2000" dirty="0">
                <a:latin typeface="Times New Roman" panose="02020603050405020304" pitchFamily="18" charset="0"/>
                <a:cs typeface="Times New Roman" panose="02020603050405020304" pitchFamily="18" charset="0"/>
              </a:rPr>
              <a:t>The processed data can then be </a:t>
            </a:r>
            <a:r>
              <a:rPr lang="en-IN" sz="2000" dirty="0" err="1">
                <a:latin typeface="Times New Roman" panose="02020603050405020304" pitchFamily="18" charset="0"/>
                <a:cs typeface="Times New Roman" panose="02020603050405020304" pitchFamily="18" charset="0"/>
              </a:rPr>
              <a:t>analyzed</a:t>
            </a:r>
            <a:r>
              <a:rPr lang="en-IN" sz="2000" dirty="0">
                <a:latin typeface="Times New Roman" panose="02020603050405020304" pitchFamily="18" charset="0"/>
                <a:cs typeface="Times New Roman" panose="02020603050405020304" pitchFamily="18" charset="0"/>
              </a:rPr>
              <a:t> to identify market trends, price movements, volatility, and trading patterns.</a:t>
            </a:r>
          </a:p>
          <a:p>
            <a:pPr marL="0" indent="0">
              <a:buNone/>
            </a:pPr>
            <a:r>
              <a:rPr lang="en-IN" sz="2000" dirty="0">
                <a:latin typeface="Times New Roman" panose="02020603050405020304" pitchFamily="18" charset="0"/>
                <a:cs typeface="Times New Roman" panose="02020603050405020304" pitchFamily="18" charset="0"/>
              </a:rPr>
              <a:t>Therefore, a stock market data pipeline helps make financial data organized, accessible, and easier to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
            </a:pPr>
            <a:endParaRPr lang="en-IN" sz="19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A4B7662-4F5B-AB4D-7BC0-F603B3DE2C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extLst>
      <p:ext uri="{BB962C8B-B14F-4D97-AF65-F5344CB8AC3E}">
        <p14:creationId xmlns:p14="http://schemas.microsoft.com/office/powerpoint/2010/main" val="1265858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9C230-9FFF-BCD8-FE98-D5B6ACAE00B1}"/>
              </a:ext>
            </a:extLst>
          </p:cNvPr>
          <p:cNvSpPr>
            <a:spLocks noGrp="1"/>
          </p:cNvSpPr>
          <p:nvPr>
            <p:ph type="title"/>
          </p:nvPr>
        </p:nvSpPr>
        <p:spPr>
          <a:xfrm>
            <a:off x="457200" y="274638"/>
            <a:ext cx="8229600" cy="792162"/>
          </a:xfrm>
        </p:spPr>
        <p:txBody>
          <a:bodyPr/>
          <a:lstStyle/>
          <a:p>
            <a:r>
              <a:rPr lang="en-IN" dirty="0">
                <a:solidFill>
                  <a:schemeClr val="accent1"/>
                </a:solidFill>
              </a:rPr>
              <a:t>LIMITATIONS OF EXISTING SYSTEM  </a:t>
            </a:r>
          </a:p>
        </p:txBody>
      </p:sp>
      <p:sp>
        <p:nvSpPr>
          <p:cNvPr id="5" name="TextBox 4">
            <a:extLst>
              <a:ext uri="{FF2B5EF4-FFF2-40B4-BE49-F238E27FC236}">
                <a16:creationId xmlns:a16="http://schemas.microsoft.com/office/drawing/2014/main" id="{F0E884AE-C515-5F4E-AB28-950C7C7D286F}"/>
              </a:ext>
            </a:extLst>
          </p:cNvPr>
          <p:cNvSpPr txBox="1"/>
          <p:nvPr/>
        </p:nvSpPr>
        <p:spPr>
          <a:xfrm>
            <a:off x="304800" y="1371600"/>
            <a:ext cx="8229600" cy="4524315"/>
          </a:xfrm>
          <a:prstGeom prst="rect">
            <a:avLst/>
          </a:prstGeom>
          <a:noFill/>
        </p:spPr>
        <p:txBody>
          <a:bodyPr wrap="square">
            <a:spAutoFit/>
          </a:bodyPr>
          <a:lstStyle/>
          <a:p>
            <a:pPr marL="342900" lvl="0" indent="-342900">
              <a:buFont typeface="Arial" panose="020B0604020202020204" pitchFamily="34" charset="0"/>
              <a:buChar char="•"/>
            </a:pPr>
            <a:r>
              <a:rPr lang="en-IN" b="1" dirty="0"/>
              <a:t>Manual Data Collection</a:t>
            </a:r>
            <a:r>
              <a:rPr lang="en-IN" dirty="0"/>
              <a:t> – Stock data is often collected manually from different sources. </a:t>
            </a:r>
          </a:p>
          <a:p>
            <a:pPr marL="342900" lvl="0" indent="-342900">
              <a:buFont typeface="Arial" panose="020B0604020202020204" pitchFamily="34" charset="0"/>
              <a:buChar char="•"/>
            </a:pPr>
            <a:r>
              <a:rPr lang="en-IN" b="1" dirty="0"/>
              <a:t>Poor Data Quality</a:t>
            </a:r>
            <a:r>
              <a:rPr lang="en-IN" dirty="0"/>
              <a:t> – Missing, duplicate, inconsistent, or incorrect records can remain. </a:t>
            </a:r>
          </a:p>
          <a:p>
            <a:pPr marL="342900" lvl="0" indent="-342900">
              <a:buFont typeface="Arial" panose="020B0604020202020204" pitchFamily="34" charset="0"/>
              <a:buChar char="•"/>
            </a:pPr>
            <a:r>
              <a:rPr lang="en-IN" b="1" dirty="0"/>
              <a:t>Time-Consuming Processing</a:t>
            </a:r>
            <a:r>
              <a:rPr lang="en-IN" dirty="0"/>
              <a:t> – Cleaning and </a:t>
            </a:r>
            <a:r>
              <a:rPr lang="en-IN" dirty="0" err="1"/>
              <a:t>analyzing</a:t>
            </a:r>
            <a:r>
              <a:rPr lang="en-IN" dirty="0"/>
              <a:t> large amounts of data manually takes more time. </a:t>
            </a:r>
          </a:p>
          <a:p>
            <a:pPr marL="342900" lvl="0" indent="-342900">
              <a:buFont typeface="Arial" panose="020B0604020202020204" pitchFamily="34" charset="0"/>
              <a:buChar char="•"/>
            </a:pPr>
            <a:r>
              <a:rPr lang="en-IN" b="1" dirty="0"/>
              <a:t>Limited Real-Time Monitoring</a:t>
            </a:r>
            <a:r>
              <a:rPr lang="en-IN" dirty="0"/>
              <a:t> – Traditional systems may not continuously process live market data. </a:t>
            </a:r>
          </a:p>
          <a:p>
            <a:pPr marL="342900" lvl="0" indent="-342900">
              <a:buFont typeface="Arial" panose="020B0604020202020204" pitchFamily="34" charset="0"/>
              <a:buChar char="•"/>
            </a:pPr>
            <a:r>
              <a:rPr lang="en-IN" b="1" dirty="0"/>
              <a:t>Difficult Data Management</a:t>
            </a:r>
            <a:r>
              <a:rPr lang="en-IN" dirty="0"/>
              <a:t> – Data from multiple sources can be difficult to organize and maintain. </a:t>
            </a:r>
          </a:p>
          <a:p>
            <a:pPr marL="342900" lvl="0" indent="-342900">
              <a:buFont typeface="Arial" panose="020B0604020202020204" pitchFamily="34" charset="0"/>
              <a:buChar char="•"/>
            </a:pPr>
            <a:r>
              <a:rPr lang="en-IN" b="1" dirty="0"/>
              <a:t>Slow Trend Analysis</a:t>
            </a:r>
            <a:r>
              <a:rPr lang="en-IN" dirty="0"/>
              <a:t> – Identifying price movements and trading patterns takes more effort. </a:t>
            </a:r>
          </a:p>
          <a:p>
            <a:pPr marL="342900" lvl="0" indent="-342900">
              <a:buFont typeface="Arial" panose="020B0604020202020204" pitchFamily="34" charset="0"/>
              <a:buChar char="•"/>
            </a:pPr>
            <a:r>
              <a:rPr lang="en-IN" b="1" dirty="0"/>
              <a:t>Limited Visualization</a:t>
            </a:r>
            <a:r>
              <a:rPr lang="en-IN" dirty="0"/>
              <a:t> – Data may be presented as raw tables instead of interactive charts or dashboards. </a:t>
            </a:r>
          </a:p>
          <a:p>
            <a:pPr marL="342900" lvl="0" indent="-342900">
              <a:buFont typeface="Arial" panose="020B0604020202020204" pitchFamily="34" charset="0"/>
              <a:buChar char="•"/>
            </a:pPr>
            <a:r>
              <a:rPr lang="en-IN" b="1" dirty="0"/>
              <a:t>Higher Risk of Human Errors</a:t>
            </a:r>
            <a:r>
              <a:rPr lang="en-IN" dirty="0"/>
              <a:t> – Manual calculations and data entry can lead to inaccurate results.</a:t>
            </a:r>
          </a:p>
        </p:txBody>
      </p:sp>
    </p:spTree>
    <p:extLst>
      <p:ext uri="{BB962C8B-B14F-4D97-AF65-F5344CB8AC3E}">
        <p14:creationId xmlns:p14="http://schemas.microsoft.com/office/powerpoint/2010/main" val="2850639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F199D-B327-387E-4D87-E7B0FD76523E}"/>
              </a:ext>
            </a:extLst>
          </p:cNvPr>
          <p:cNvSpPr>
            <a:spLocks noGrp="1"/>
          </p:cNvSpPr>
          <p:nvPr>
            <p:ph type="title"/>
          </p:nvPr>
        </p:nvSpPr>
        <p:spPr>
          <a:xfrm>
            <a:off x="457200" y="0"/>
            <a:ext cx="8229600" cy="990600"/>
          </a:xfrm>
        </p:spPr>
        <p:txBody>
          <a:bodyPr/>
          <a:lstStyle/>
          <a:p>
            <a:r>
              <a:rPr lang="en-IN" dirty="0">
                <a:solidFill>
                  <a:schemeClr val="accent1"/>
                </a:solidFill>
              </a:rPr>
              <a:t>PROPOSED SYSTEM</a:t>
            </a:r>
          </a:p>
        </p:txBody>
      </p:sp>
      <p:sp>
        <p:nvSpPr>
          <p:cNvPr id="4" name="TextBox 3">
            <a:extLst>
              <a:ext uri="{FF2B5EF4-FFF2-40B4-BE49-F238E27FC236}">
                <a16:creationId xmlns:a16="http://schemas.microsoft.com/office/drawing/2014/main" id="{E86C6999-56D9-CD8A-2389-820AB3F09593}"/>
              </a:ext>
            </a:extLst>
          </p:cNvPr>
          <p:cNvSpPr txBox="1"/>
          <p:nvPr/>
        </p:nvSpPr>
        <p:spPr>
          <a:xfrm>
            <a:off x="381000" y="749012"/>
            <a:ext cx="8991600" cy="6124754"/>
          </a:xfrm>
          <a:prstGeom prst="rect">
            <a:avLst/>
          </a:prstGeom>
          <a:noFill/>
        </p:spPr>
        <p:txBody>
          <a:bodyPr wrap="square">
            <a:spAutoFit/>
          </a:bodyPr>
          <a:lstStyle/>
          <a:p>
            <a:pPr>
              <a:buNone/>
            </a:pPr>
            <a:r>
              <a:rPr lang="en-IN" sz="1400" dirty="0"/>
              <a:t>The proposed system is an </a:t>
            </a:r>
            <a:r>
              <a:rPr lang="en-IN" sz="1400" b="1" dirty="0"/>
              <a:t>automated stock market data pipeline</a:t>
            </a:r>
            <a:r>
              <a:rPr lang="en-IN" sz="1400" dirty="0"/>
              <a:t> that converts raw market data into meaningful insights through multiple processing stages. </a:t>
            </a:r>
          </a:p>
          <a:p>
            <a:pPr>
              <a:buNone/>
            </a:pPr>
            <a:r>
              <a:rPr lang="en-IN" sz="1400" b="1" dirty="0"/>
              <a:t>Pipeline:</a:t>
            </a:r>
            <a:endParaRPr lang="en-IN" sz="1400" dirty="0"/>
          </a:p>
          <a:p>
            <a:pPr>
              <a:buNone/>
            </a:pPr>
            <a:r>
              <a:rPr lang="en-IN" sz="1400" b="1" dirty="0"/>
              <a:t>Stock Market API / Historical Dataset</a:t>
            </a:r>
            <a:br>
              <a:rPr lang="en-IN" sz="1400" dirty="0"/>
            </a:br>
            <a:r>
              <a:rPr lang="en-IN" sz="1400" dirty="0"/>
              <a:t>↓</a:t>
            </a:r>
            <a:br>
              <a:rPr lang="en-IN" sz="1400" dirty="0"/>
            </a:br>
            <a:r>
              <a:rPr lang="en-IN" sz="1400" b="1" dirty="0"/>
              <a:t>Data Collection</a:t>
            </a:r>
            <a:r>
              <a:rPr lang="en-IN" sz="1400" dirty="0"/>
              <a:t> – Collect stock symbol, date, Open, High, Low, Close and Volume</a:t>
            </a:r>
            <a:br>
              <a:rPr lang="en-IN" sz="1400" dirty="0"/>
            </a:br>
            <a:r>
              <a:rPr lang="en-IN" sz="1400" dirty="0"/>
              <a:t>↓</a:t>
            </a:r>
            <a:br>
              <a:rPr lang="en-IN" sz="1400" dirty="0"/>
            </a:br>
            <a:r>
              <a:rPr lang="en-IN" sz="1400" b="1" dirty="0"/>
              <a:t>Data Cleaning</a:t>
            </a:r>
            <a:r>
              <a:rPr lang="en-IN" sz="1400" dirty="0"/>
              <a:t> – Handle missing, duplicate and inconsistent records</a:t>
            </a:r>
            <a:br>
              <a:rPr lang="en-IN" sz="1400" dirty="0"/>
            </a:br>
            <a:r>
              <a:rPr lang="en-IN" sz="1400" dirty="0"/>
              <a:t>↓</a:t>
            </a:r>
            <a:br>
              <a:rPr lang="en-IN" sz="1400" dirty="0"/>
            </a:br>
            <a:r>
              <a:rPr lang="en-IN" sz="1400" b="1" dirty="0"/>
              <a:t>Data Transformation</a:t>
            </a:r>
            <a:r>
              <a:rPr lang="en-IN" sz="1400" dirty="0"/>
              <a:t> – Calculate price changes, returns, moving averages and volume patterns</a:t>
            </a:r>
            <a:br>
              <a:rPr lang="en-IN" sz="1400" dirty="0"/>
            </a:br>
            <a:r>
              <a:rPr lang="en-IN" sz="1400" dirty="0"/>
              <a:t>↓</a:t>
            </a:r>
            <a:br>
              <a:rPr lang="en-IN" sz="1400" dirty="0"/>
            </a:br>
            <a:r>
              <a:rPr lang="en-IN" sz="1400" b="1" dirty="0"/>
              <a:t>Data Storage</a:t>
            </a:r>
            <a:r>
              <a:rPr lang="en-IN" sz="1400" dirty="0"/>
              <a:t> – Store processed data in SQL/database or file system</a:t>
            </a:r>
            <a:br>
              <a:rPr lang="en-IN" sz="1400" dirty="0"/>
            </a:br>
            <a:r>
              <a:rPr lang="en-IN" sz="1400" dirty="0"/>
              <a:t>↓</a:t>
            </a:r>
            <a:br>
              <a:rPr lang="en-IN" sz="1400" dirty="0"/>
            </a:br>
            <a:r>
              <a:rPr lang="en-IN" sz="1400" b="1" dirty="0"/>
              <a:t>Data Analysis</a:t>
            </a:r>
            <a:r>
              <a:rPr lang="en-IN" sz="1400" dirty="0"/>
              <a:t> – </a:t>
            </a:r>
            <a:r>
              <a:rPr lang="en-IN" sz="1400" dirty="0" err="1"/>
              <a:t>Analyze</a:t>
            </a:r>
            <a:r>
              <a:rPr lang="en-IN" sz="1400" dirty="0"/>
              <a:t> prices, volume, trends and market patterns</a:t>
            </a:r>
            <a:br>
              <a:rPr lang="en-IN" sz="1400" dirty="0"/>
            </a:br>
            <a:r>
              <a:rPr lang="en-IN" sz="1400" dirty="0"/>
              <a:t>↓</a:t>
            </a:r>
            <a:br>
              <a:rPr lang="en-IN" sz="1400" dirty="0"/>
            </a:br>
            <a:r>
              <a:rPr lang="en-IN" sz="1400" b="1" dirty="0"/>
              <a:t>Visualization</a:t>
            </a:r>
            <a:r>
              <a:rPr lang="en-IN" sz="1400" dirty="0"/>
              <a:t> – Generate charts and dashboards using Matplotlib/</a:t>
            </a:r>
            <a:r>
              <a:rPr lang="en-IN" sz="1400" dirty="0" err="1"/>
              <a:t>Plotly</a:t>
            </a:r>
            <a:br>
              <a:rPr lang="en-IN" sz="1400" dirty="0"/>
            </a:br>
            <a:r>
              <a:rPr lang="en-IN" sz="1400" dirty="0"/>
              <a:t>↓</a:t>
            </a:r>
            <a:br>
              <a:rPr lang="en-IN" sz="1400" dirty="0"/>
            </a:br>
            <a:r>
              <a:rPr lang="en-IN" sz="1400" b="1" dirty="0"/>
              <a:t>Market Insights</a:t>
            </a:r>
            <a:r>
              <a:rPr lang="en-IN" sz="1400" dirty="0"/>
              <a:t> – Provide understandable information about market movements</a:t>
            </a:r>
          </a:p>
          <a:p>
            <a:pPr>
              <a:buNone/>
            </a:pPr>
            <a:r>
              <a:rPr lang="en-IN" sz="1400" b="1" dirty="0"/>
              <a:t>Technologies Used</a:t>
            </a:r>
          </a:p>
          <a:p>
            <a:pPr marL="342900" lvl="0" indent="-342900">
              <a:buFont typeface="Arial" panose="020B0604020202020204" pitchFamily="34" charset="0"/>
              <a:buChar char="•"/>
            </a:pPr>
            <a:r>
              <a:rPr lang="en-IN" sz="1400" b="1" dirty="0"/>
              <a:t>Python</a:t>
            </a:r>
            <a:r>
              <a:rPr lang="en-IN" sz="1400" dirty="0"/>
              <a:t> – Pipeline development and processing </a:t>
            </a:r>
          </a:p>
          <a:p>
            <a:pPr marL="342900" lvl="0" indent="-342900">
              <a:buFont typeface="Arial" panose="020B0604020202020204" pitchFamily="34" charset="0"/>
              <a:buChar char="•"/>
            </a:pPr>
            <a:r>
              <a:rPr lang="en-IN" sz="1400" b="1" dirty="0"/>
              <a:t>Pandas</a:t>
            </a:r>
            <a:r>
              <a:rPr lang="en-IN" sz="1400" dirty="0"/>
              <a:t> – Cleaning and transformation </a:t>
            </a:r>
          </a:p>
          <a:p>
            <a:pPr marL="342900" lvl="0" indent="-342900">
              <a:buFont typeface="Arial" panose="020B0604020202020204" pitchFamily="34" charset="0"/>
              <a:buChar char="•"/>
            </a:pPr>
            <a:r>
              <a:rPr lang="en-IN" sz="1400" b="1" dirty="0"/>
              <a:t>NumPy</a:t>
            </a:r>
            <a:r>
              <a:rPr lang="en-IN" sz="1400" dirty="0"/>
              <a:t> – Numerical calculations </a:t>
            </a:r>
          </a:p>
          <a:p>
            <a:pPr marL="342900" lvl="0" indent="-342900">
              <a:buFont typeface="Arial" panose="020B0604020202020204" pitchFamily="34" charset="0"/>
              <a:buChar char="•"/>
            </a:pPr>
            <a:r>
              <a:rPr lang="en-IN" sz="1400" b="1" dirty="0"/>
              <a:t>SQL/Database</a:t>
            </a:r>
            <a:r>
              <a:rPr lang="en-IN" sz="1400" dirty="0"/>
              <a:t> – Data storage </a:t>
            </a:r>
          </a:p>
          <a:p>
            <a:pPr marL="342900" lvl="0" indent="-342900">
              <a:buFont typeface="Arial" panose="020B0604020202020204" pitchFamily="34" charset="0"/>
              <a:buChar char="•"/>
            </a:pPr>
            <a:r>
              <a:rPr lang="en-IN" sz="1400" b="1" dirty="0"/>
              <a:t>Matplotlib/</a:t>
            </a:r>
            <a:r>
              <a:rPr lang="en-IN" sz="1400" b="1" dirty="0" err="1"/>
              <a:t>Plotly</a:t>
            </a:r>
            <a:r>
              <a:rPr lang="en-IN" sz="1400" dirty="0"/>
              <a:t> – Visualization </a:t>
            </a:r>
          </a:p>
          <a:p>
            <a:pPr marL="342900" lvl="0" indent="-342900">
              <a:buFont typeface="Arial" panose="020B0604020202020204" pitchFamily="34" charset="0"/>
              <a:buChar char="•"/>
            </a:pPr>
            <a:r>
              <a:rPr lang="en-IN" sz="1400" b="1" dirty="0"/>
              <a:t>Jupyter Notebook</a:t>
            </a:r>
            <a:r>
              <a:rPr lang="en-IN" sz="1400" dirty="0"/>
              <a:t> – Development and testing </a:t>
            </a:r>
          </a:p>
          <a:p>
            <a:pPr marL="342900" lvl="0" indent="-342900">
              <a:buFont typeface="Arial" panose="020B0604020202020204" pitchFamily="34" charset="0"/>
              <a:buChar char="•"/>
            </a:pPr>
            <a:r>
              <a:rPr lang="en-IN" sz="1400" b="1" dirty="0"/>
              <a:t>Stock Market API</a:t>
            </a:r>
            <a:r>
              <a:rPr lang="en-IN" sz="1400" dirty="0"/>
              <a:t> – Historical/real-time data collection </a:t>
            </a:r>
          </a:p>
          <a:p>
            <a:pPr>
              <a:buNone/>
            </a:pPr>
            <a:r>
              <a:rPr lang="en-IN" sz="1400" b="1" dirty="0"/>
              <a:t>Main advantage:</a:t>
            </a:r>
            <a:r>
              <a:rPr lang="en-IN" sz="1400" dirty="0"/>
              <a:t> It reduces manual effort, improves data quality, speeds up analysis, and makes market trends easier to understand.</a:t>
            </a:r>
          </a:p>
        </p:txBody>
      </p:sp>
    </p:spTree>
    <p:extLst>
      <p:ext uri="{BB962C8B-B14F-4D97-AF65-F5344CB8AC3E}">
        <p14:creationId xmlns:p14="http://schemas.microsoft.com/office/powerpoint/2010/main" val="37027836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7DE6C-0006-B4B3-7539-13439E4C8291}"/>
              </a:ext>
            </a:extLst>
          </p:cNvPr>
          <p:cNvSpPr>
            <a:spLocks noGrp="1"/>
          </p:cNvSpPr>
          <p:nvPr>
            <p:ph type="title"/>
          </p:nvPr>
        </p:nvSpPr>
        <p:spPr/>
        <p:txBody>
          <a:bodyPr/>
          <a:lstStyle/>
          <a:p>
            <a:r>
              <a:rPr lang="en-US" b="1" dirty="0">
                <a:solidFill>
                  <a:srgbClr val="0070C0"/>
                </a:solidFill>
                <a:latin typeface="Times New Roman" panose="02020603050405020304" pitchFamily="18" charset="0"/>
                <a:cs typeface="Times New Roman" panose="02020603050405020304" pitchFamily="18" charset="0"/>
              </a:rPr>
              <a:t>Objectives</a:t>
            </a: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10BEFCA-ABAC-09F7-972A-DF38B5BBFF31}"/>
              </a:ext>
            </a:extLst>
          </p:cNvPr>
          <p:cNvSpPr>
            <a:spLocks noGrp="1"/>
          </p:cNvSpPr>
          <p:nvPr>
            <p:ph idx="1"/>
          </p:nvPr>
        </p:nvSpPr>
        <p:spPr/>
        <p:txBody>
          <a:bodyPr>
            <a:normAutofit fontScale="92500"/>
          </a:bodyPr>
          <a:lstStyle/>
          <a:p>
            <a:pPr lvl="0"/>
            <a:r>
              <a:rPr lang="en-IN" dirty="0">
                <a:latin typeface="Times New Roman" panose="02020603050405020304" pitchFamily="18" charset="0"/>
                <a:cs typeface="Times New Roman" panose="02020603050405020304" pitchFamily="18" charset="0"/>
              </a:rPr>
              <a:t>To collect historical and real-time stock market data from reliable data sources or APIs. </a:t>
            </a:r>
          </a:p>
          <a:p>
            <a:pPr lvl="0"/>
            <a:r>
              <a:rPr lang="en-IN" dirty="0">
                <a:latin typeface="Times New Roman" panose="02020603050405020304" pitchFamily="18" charset="0"/>
                <a:cs typeface="Times New Roman" panose="02020603050405020304" pitchFamily="18" charset="0"/>
              </a:rPr>
              <a:t>To clean and preprocess the collected data by handling missing, duplicate, and inconsistent records. </a:t>
            </a:r>
          </a:p>
          <a:p>
            <a:pPr lvl="0"/>
            <a:r>
              <a:rPr lang="en-IN" dirty="0">
                <a:latin typeface="Times New Roman" panose="02020603050405020304" pitchFamily="18" charset="0"/>
                <a:cs typeface="Times New Roman" panose="02020603050405020304" pitchFamily="18" charset="0"/>
              </a:rPr>
              <a:t>To transform raw stock market data into a structured format suitable for analysis. </a:t>
            </a:r>
          </a:p>
          <a:p>
            <a:pPr lvl="0"/>
            <a:r>
              <a:rPr lang="en-IN" dirty="0">
                <a:latin typeface="Times New Roman" panose="02020603050405020304" pitchFamily="18" charset="0"/>
                <a:cs typeface="Times New Roman" panose="02020603050405020304" pitchFamily="18" charset="0"/>
              </a:rPr>
              <a:t>To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stock prices, trading volume, market trends, and price movements. </a:t>
            </a:r>
          </a:p>
          <a:p>
            <a:pPr lvl="0"/>
            <a:r>
              <a:rPr lang="en-IN" dirty="0">
                <a:latin typeface="Times New Roman" panose="02020603050405020304" pitchFamily="18" charset="0"/>
                <a:cs typeface="Times New Roman" panose="02020603050405020304" pitchFamily="18" charset="0"/>
              </a:rPr>
              <a:t>To identify useful patterns and trends from historical stock market data. </a:t>
            </a:r>
          </a:p>
          <a:p>
            <a:pPr lvl="0"/>
            <a:r>
              <a:rPr lang="en-IN" dirty="0">
                <a:latin typeface="Times New Roman" panose="02020603050405020304" pitchFamily="18" charset="0"/>
                <a:cs typeface="Times New Roman" panose="02020603050405020304" pitchFamily="18" charset="0"/>
              </a:rPr>
              <a:t>To visualize stock market information using charts and dashboards. </a:t>
            </a:r>
          </a:p>
          <a:p>
            <a:pPr lvl="0"/>
            <a:r>
              <a:rPr lang="en-IN" dirty="0">
                <a:latin typeface="Times New Roman" panose="02020603050405020304" pitchFamily="18" charset="0"/>
                <a:cs typeface="Times New Roman" panose="02020603050405020304" pitchFamily="18" charset="0"/>
              </a:rPr>
              <a:t>To support efficient and data-driven financial market analysis.</a:t>
            </a:r>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32427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854199-EDFA-66DF-327B-6EB151DE6510}"/>
              </a:ext>
            </a:extLst>
          </p:cNvPr>
          <p:cNvPicPr>
            <a:picLocks noChangeAspect="1"/>
          </p:cNvPicPr>
          <p:nvPr/>
        </p:nvPicPr>
        <p:blipFill>
          <a:blip r:embed="rId2"/>
          <a:stretch>
            <a:fillRect/>
          </a:stretch>
        </p:blipFill>
        <p:spPr>
          <a:xfrm>
            <a:off x="0" y="381000"/>
            <a:ext cx="9144000" cy="6096000"/>
          </a:xfrm>
          <a:prstGeom prst="rect">
            <a:avLst/>
          </a:prstGeom>
        </p:spPr>
      </p:pic>
    </p:spTree>
    <p:extLst>
      <p:ext uri="{BB962C8B-B14F-4D97-AF65-F5344CB8AC3E}">
        <p14:creationId xmlns:p14="http://schemas.microsoft.com/office/powerpoint/2010/main" val="2815850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28269-D284-5ED5-742E-01FFA18ACD5C}"/>
              </a:ext>
            </a:extLst>
          </p:cNvPr>
          <p:cNvSpPr>
            <a:spLocks noGrp="1"/>
          </p:cNvSpPr>
          <p:nvPr>
            <p:ph type="title"/>
          </p:nvPr>
        </p:nvSpPr>
        <p:spPr/>
        <p:txBody>
          <a:bodyPr/>
          <a:lstStyle/>
          <a:p>
            <a:r>
              <a:rPr lang="en-IN" dirty="0">
                <a:solidFill>
                  <a:schemeClr val="accent1"/>
                </a:solidFill>
                <a:latin typeface="Times New Roman" panose="02020603050405020304" pitchFamily="18" charset="0"/>
                <a:cs typeface="Times New Roman" panose="02020603050405020304" pitchFamily="18" charset="0"/>
              </a:rPr>
              <a:t>SOFTWARE REQUIREMENTS</a:t>
            </a:r>
          </a:p>
        </p:txBody>
      </p:sp>
      <p:sp>
        <p:nvSpPr>
          <p:cNvPr id="4" name="TextBox 3">
            <a:extLst>
              <a:ext uri="{FF2B5EF4-FFF2-40B4-BE49-F238E27FC236}">
                <a16:creationId xmlns:a16="http://schemas.microsoft.com/office/drawing/2014/main" id="{A3D3EA08-D9ED-7196-A9C4-1802ED6F13AC}"/>
              </a:ext>
            </a:extLst>
          </p:cNvPr>
          <p:cNvSpPr txBox="1"/>
          <p:nvPr/>
        </p:nvSpPr>
        <p:spPr>
          <a:xfrm>
            <a:off x="838200" y="1443841"/>
            <a:ext cx="6019800" cy="4431983"/>
          </a:xfrm>
          <a:prstGeom prst="rect">
            <a:avLst/>
          </a:prstGeom>
          <a:noFill/>
        </p:spPr>
        <p:txBody>
          <a:bodyPr wrap="square">
            <a:spAutoFit/>
          </a:bodyPr>
          <a:lstStyle/>
          <a:p>
            <a:pPr>
              <a:buNone/>
            </a:pPr>
            <a:endParaRPr lang="en-IN" dirty="0"/>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Operating System: Windows / Linux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Programming Language: Python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Libraries: Pandas, NumPy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Database: SQL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Visualization: Matplotlib / </a:t>
            </a:r>
            <a:r>
              <a:rPr lang="en-IN" sz="2400" dirty="0" err="1">
                <a:latin typeface="Times New Roman" panose="02020603050405020304" pitchFamily="18" charset="0"/>
                <a:cs typeface="Times New Roman" panose="02020603050405020304" pitchFamily="18" charset="0"/>
              </a:rPr>
              <a:t>Plotly</a:t>
            </a:r>
            <a:r>
              <a:rPr lang="en-IN" sz="2400" dirty="0">
                <a:latin typeface="Times New Roman" panose="02020603050405020304" pitchFamily="18" charset="0"/>
                <a:cs typeface="Times New Roman" panose="02020603050405020304" pitchFamily="18" charset="0"/>
              </a:rPr>
              <a:t>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Development Environment: Jupyter Notebook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 Source: Stock Market API / Historical Dataset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Dashboard: Python-based visualization/dashboard</a:t>
            </a:r>
          </a:p>
        </p:txBody>
      </p:sp>
    </p:spTree>
    <p:extLst>
      <p:ext uri="{BB962C8B-B14F-4D97-AF65-F5344CB8AC3E}">
        <p14:creationId xmlns:p14="http://schemas.microsoft.com/office/powerpoint/2010/main" val="41651964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34A8E-04EB-042D-C185-7C564B718296}"/>
              </a:ext>
            </a:extLst>
          </p:cNvPr>
          <p:cNvSpPr>
            <a:spLocks noGrp="1"/>
          </p:cNvSpPr>
          <p:nvPr>
            <p:ph type="title"/>
          </p:nvPr>
        </p:nvSpPr>
        <p:spPr/>
        <p:txBody>
          <a:bodyPr/>
          <a:lstStyle/>
          <a:p>
            <a:r>
              <a:rPr lang="en-IN" dirty="0">
                <a:solidFill>
                  <a:schemeClr val="accent1"/>
                </a:solidFill>
              </a:rPr>
              <a:t>HARDWARE REQUIREMENTS</a:t>
            </a:r>
          </a:p>
        </p:txBody>
      </p:sp>
      <p:sp>
        <p:nvSpPr>
          <p:cNvPr id="4" name="TextBox 3">
            <a:extLst>
              <a:ext uri="{FF2B5EF4-FFF2-40B4-BE49-F238E27FC236}">
                <a16:creationId xmlns:a16="http://schemas.microsoft.com/office/drawing/2014/main" id="{7D2B28D4-E6A2-2E46-52FE-69A0FE51676F}"/>
              </a:ext>
            </a:extLst>
          </p:cNvPr>
          <p:cNvSpPr txBox="1"/>
          <p:nvPr/>
        </p:nvSpPr>
        <p:spPr>
          <a:xfrm>
            <a:off x="228600" y="1443841"/>
            <a:ext cx="6629400" cy="3416320"/>
          </a:xfrm>
          <a:prstGeom prst="rect">
            <a:avLst/>
          </a:prstGeom>
          <a:noFill/>
        </p:spPr>
        <p:txBody>
          <a:bodyPr wrap="square">
            <a:spAutoFit/>
          </a:bodyPr>
          <a:lstStyle/>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Processor: Intel Core i3 or equivalent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RAM: 4 GB minimum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Storage: 10 GB available space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System: Desktop/Laptop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Internet: Required for Stock Market API data collection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Display: Standard monitor </a:t>
            </a:r>
          </a:p>
          <a:p>
            <a:pPr>
              <a:buNone/>
            </a:pPr>
            <a:r>
              <a:rPr lang="en-IN" sz="2400" dirty="0">
                <a:latin typeface="Times New Roman" panose="02020603050405020304" pitchFamily="18" charset="0"/>
                <a:cs typeface="Times New Roman" panose="02020603050405020304" pitchFamily="18" charset="0"/>
              </a:rPr>
              <a:t>Processor: Core i3 | RAM: 4 GB | Storage: 10 GB | Internet: Required | Device: Laptop/Desktop</a:t>
            </a:r>
          </a:p>
        </p:txBody>
      </p:sp>
    </p:spTree>
    <p:extLst>
      <p:ext uri="{BB962C8B-B14F-4D97-AF65-F5344CB8AC3E}">
        <p14:creationId xmlns:p14="http://schemas.microsoft.com/office/powerpoint/2010/main" val="3556428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315A2-4960-7D8F-9196-94CE9941C0AE}"/>
              </a:ext>
            </a:extLst>
          </p:cNvPr>
          <p:cNvSpPr>
            <a:spLocks noGrp="1"/>
          </p:cNvSpPr>
          <p:nvPr>
            <p:ph type="title"/>
          </p:nvPr>
        </p:nvSpPr>
        <p:spPr/>
        <p:txBody>
          <a:bodyPr/>
          <a:lstStyle/>
          <a:p>
            <a:r>
              <a:rPr lang="en-IN" dirty="0">
                <a:solidFill>
                  <a:schemeClr val="accent1"/>
                </a:solidFill>
              </a:rPr>
              <a:t>FUNCTIONAL REQUIREMENTS</a:t>
            </a:r>
          </a:p>
        </p:txBody>
      </p:sp>
      <p:sp>
        <p:nvSpPr>
          <p:cNvPr id="4" name="TextBox 3">
            <a:extLst>
              <a:ext uri="{FF2B5EF4-FFF2-40B4-BE49-F238E27FC236}">
                <a16:creationId xmlns:a16="http://schemas.microsoft.com/office/drawing/2014/main" id="{758E25CA-D735-E2C1-5A1E-410A0F988C97}"/>
              </a:ext>
            </a:extLst>
          </p:cNvPr>
          <p:cNvSpPr txBox="1"/>
          <p:nvPr/>
        </p:nvSpPr>
        <p:spPr>
          <a:xfrm>
            <a:off x="152400" y="1524000"/>
            <a:ext cx="6934200" cy="4524315"/>
          </a:xfrm>
          <a:prstGeom prst="rect">
            <a:avLst/>
          </a:prstGeom>
          <a:noFill/>
        </p:spPr>
        <p:txBody>
          <a:bodyPr wrap="square">
            <a:spAutoFit/>
          </a:bodyPr>
          <a:lstStyle/>
          <a:p>
            <a:pPr marL="342900" lvl="0" indent="-342900">
              <a:buFont typeface="Arial" panose="020B0604020202020204" pitchFamily="34" charset="0"/>
              <a:buChar char="•"/>
            </a:pPr>
            <a:r>
              <a:rPr lang="en-IN" b="1" dirty="0"/>
              <a:t>Data Collection</a:t>
            </a:r>
            <a:r>
              <a:rPr lang="en-IN" dirty="0"/>
              <a:t> – Collect historical and real-time stock market data from APIs or datasets. </a:t>
            </a:r>
          </a:p>
          <a:p>
            <a:pPr marL="342900" lvl="0" indent="-342900">
              <a:buFont typeface="Arial" panose="020B0604020202020204" pitchFamily="34" charset="0"/>
              <a:buChar char="•"/>
            </a:pPr>
            <a:r>
              <a:rPr lang="en-IN" b="1" dirty="0"/>
              <a:t>Data Cleaning</a:t>
            </a:r>
            <a:r>
              <a:rPr lang="en-IN" dirty="0"/>
              <a:t> – Handle missing, duplicate, inconsistent, and incorrect records. </a:t>
            </a:r>
          </a:p>
          <a:p>
            <a:pPr marL="342900" lvl="0" indent="-342900">
              <a:buFont typeface="Arial" panose="020B0604020202020204" pitchFamily="34" charset="0"/>
              <a:buChar char="•"/>
            </a:pPr>
            <a:r>
              <a:rPr lang="en-IN" b="1" dirty="0"/>
              <a:t>Data Transformation</a:t>
            </a:r>
            <a:r>
              <a:rPr lang="en-IN" dirty="0"/>
              <a:t> – Convert raw data into a structured format and calculate useful indicators. </a:t>
            </a:r>
          </a:p>
          <a:p>
            <a:pPr marL="342900" lvl="0" indent="-342900">
              <a:buFont typeface="Arial" panose="020B0604020202020204" pitchFamily="34" charset="0"/>
              <a:buChar char="•"/>
            </a:pPr>
            <a:r>
              <a:rPr lang="en-IN" b="1" dirty="0"/>
              <a:t>Data Storage</a:t>
            </a:r>
            <a:r>
              <a:rPr lang="en-IN" dirty="0"/>
              <a:t> – Store processed stock data in a database or file system. </a:t>
            </a:r>
          </a:p>
          <a:p>
            <a:pPr marL="342900" lvl="0" indent="-342900">
              <a:buFont typeface="Arial" panose="020B0604020202020204" pitchFamily="34" charset="0"/>
              <a:buChar char="•"/>
            </a:pPr>
            <a:r>
              <a:rPr lang="en-IN" b="1" dirty="0"/>
              <a:t>Data Analysis</a:t>
            </a:r>
            <a:r>
              <a:rPr lang="en-IN" dirty="0"/>
              <a:t> – </a:t>
            </a:r>
            <a:r>
              <a:rPr lang="en-IN" dirty="0" err="1"/>
              <a:t>Analyze</a:t>
            </a:r>
            <a:r>
              <a:rPr lang="en-IN" dirty="0"/>
              <a:t> stock prices, trading volume, trends, and market patterns. </a:t>
            </a:r>
          </a:p>
          <a:p>
            <a:pPr marL="342900" lvl="0" indent="-342900">
              <a:buFont typeface="Arial" panose="020B0604020202020204" pitchFamily="34" charset="0"/>
              <a:buChar char="•"/>
            </a:pPr>
            <a:r>
              <a:rPr lang="en-IN" b="1" dirty="0"/>
              <a:t>Data Visualization</a:t>
            </a:r>
            <a:r>
              <a:rPr lang="en-IN" dirty="0"/>
              <a:t> – Generate charts and dashboards to display market information. </a:t>
            </a:r>
          </a:p>
          <a:p>
            <a:pPr marL="342900" lvl="0" indent="-342900">
              <a:buFont typeface="Arial" panose="020B0604020202020204" pitchFamily="34" charset="0"/>
              <a:buChar char="•"/>
            </a:pPr>
            <a:r>
              <a:rPr lang="en-IN" b="1" dirty="0"/>
              <a:t>Market Insights</a:t>
            </a:r>
            <a:r>
              <a:rPr lang="en-IN" dirty="0"/>
              <a:t> – Provide meaningful insights about stock movements and trends. </a:t>
            </a:r>
          </a:p>
          <a:p>
            <a:pPr marL="342900" lvl="0" indent="-342900">
              <a:buFont typeface="Arial" panose="020B0604020202020204" pitchFamily="34" charset="0"/>
              <a:buChar char="•"/>
            </a:pPr>
            <a:r>
              <a:rPr lang="en-IN" b="1" dirty="0"/>
              <a:t>Real-Time Monitoring</a:t>
            </a:r>
            <a:r>
              <a:rPr lang="en-IN" dirty="0"/>
              <a:t> – Support continuous monitoring when connected to a live data source.</a:t>
            </a:r>
          </a:p>
        </p:txBody>
      </p:sp>
    </p:spTree>
    <p:extLst>
      <p:ext uri="{BB962C8B-B14F-4D97-AF65-F5344CB8AC3E}">
        <p14:creationId xmlns:p14="http://schemas.microsoft.com/office/powerpoint/2010/main" val="27650050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9ED7B-7EFC-DD1F-E511-27A6A1FE5D69}"/>
              </a:ext>
            </a:extLst>
          </p:cNvPr>
          <p:cNvSpPr>
            <a:spLocks noGrp="1"/>
          </p:cNvSpPr>
          <p:nvPr>
            <p:ph type="title"/>
          </p:nvPr>
        </p:nvSpPr>
        <p:spPr/>
        <p:txBody>
          <a:bodyPr/>
          <a:lstStyle/>
          <a:p>
            <a:r>
              <a:rPr lang="en-IN" dirty="0">
                <a:solidFill>
                  <a:schemeClr val="accent1"/>
                </a:solidFill>
              </a:rPr>
              <a:t>NON FUNCTIONAL REQUIREMENTS</a:t>
            </a:r>
          </a:p>
        </p:txBody>
      </p:sp>
      <p:sp>
        <p:nvSpPr>
          <p:cNvPr id="4" name="TextBox 3">
            <a:extLst>
              <a:ext uri="{FF2B5EF4-FFF2-40B4-BE49-F238E27FC236}">
                <a16:creationId xmlns:a16="http://schemas.microsoft.com/office/drawing/2014/main" id="{F3B47D74-1A50-16C9-214F-8301A4E68488}"/>
              </a:ext>
            </a:extLst>
          </p:cNvPr>
          <p:cNvSpPr txBox="1"/>
          <p:nvPr/>
        </p:nvSpPr>
        <p:spPr>
          <a:xfrm>
            <a:off x="609600" y="1582340"/>
            <a:ext cx="5867400" cy="5016758"/>
          </a:xfrm>
          <a:prstGeom prst="rect">
            <a:avLst/>
          </a:prstGeom>
          <a:noFill/>
        </p:spPr>
        <p:txBody>
          <a:bodyPr wrap="square">
            <a:spAutoFit/>
          </a:bodyPr>
          <a:lstStyle/>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Performance – Process large amounts of stock data efficiently.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Scalability – Handle increasing amounts of market data.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Reliability – Provide consistent and accurate processing.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Security – Protect stored and processed financial data.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Maintainability – Keep the pipeline modular and easy to update.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Usability – Present results through clear charts and dashboards.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Availability – Support continuous data processing when live data is available.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Data Quality – Maintain clean, consistent, and accurate data.</a:t>
            </a:r>
          </a:p>
        </p:txBody>
      </p:sp>
    </p:spTree>
    <p:extLst>
      <p:ext uri="{BB962C8B-B14F-4D97-AF65-F5344CB8AC3E}">
        <p14:creationId xmlns:p14="http://schemas.microsoft.com/office/powerpoint/2010/main" val="7310229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3C4FE-A1E0-0D1D-E050-0BE7C94D8587}"/>
              </a:ext>
            </a:extLst>
          </p:cNvPr>
          <p:cNvSpPr>
            <a:spLocks noGrp="1"/>
          </p:cNvSpPr>
          <p:nvPr>
            <p:ph type="title"/>
          </p:nvPr>
        </p:nvSpPr>
        <p:spPr/>
        <p:txBody>
          <a:bodyPr/>
          <a:lstStyle/>
          <a:p>
            <a:r>
              <a:rPr lang="en-IN" b="1" dirty="0">
                <a:solidFill>
                  <a:srgbClr val="0070C0"/>
                </a:solidFill>
                <a:latin typeface="Times New Roman" panose="02020603050405020304" pitchFamily="18" charset="0"/>
                <a:cs typeface="Times New Roman" panose="02020603050405020304" pitchFamily="18" charset="0"/>
              </a:rPr>
              <a:t>System Architecture</a:t>
            </a:r>
          </a:p>
        </p:txBody>
      </p:sp>
      <p:sp>
        <p:nvSpPr>
          <p:cNvPr id="4" name="Content Placeholder 3">
            <a:extLst>
              <a:ext uri="{FF2B5EF4-FFF2-40B4-BE49-F238E27FC236}">
                <a16:creationId xmlns:a16="http://schemas.microsoft.com/office/drawing/2014/main" id="{06018FDF-D817-411D-9DCC-93CD576084BF}"/>
              </a:ext>
            </a:extLst>
          </p:cNvPr>
          <p:cNvSpPr>
            <a:spLocks noGrp="1"/>
          </p:cNvSpPr>
          <p:nvPr>
            <p:ph idx="1"/>
          </p:nvPr>
        </p:nvSpPr>
        <p:spPr/>
        <p:txBody>
          <a:bodyPr/>
          <a:lstStyle/>
          <a:p>
            <a:endParaRPr lang="en-IN"/>
          </a:p>
        </p:txBody>
      </p:sp>
      <p:pic>
        <p:nvPicPr>
          <p:cNvPr id="7" name="Picture 6">
            <a:extLst>
              <a:ext uri="{FF2B5EF4-FFF2-40B4-BE49-F238E27FC236}">
                <a16:creationId xmlns:a16="http://schemas.microsoft.com/office/drawing/2014/main" id="{E2AD79F3-A804-26DE-EC8D-DE5F8163CDD8}"/>
              </a:ext>
            </a:extLst>
          </p:cNvPr>
          <p:cNvPicPr>
            <a:picLocks noChangeAspect="1"/>
          </p:cNvPicPr>
          <p:nvPr/>
        </p:nvPicPr>
        <p:blipFill>
          <a:blip r:embed="rId2"/>
          <a:stretch>
            <a:fillRect/>
          </a:stretch>
        </p:blipFill>
        <p:spPr>
          <a:xfrm>
            <a:off x="0" y="381000"/>
            <a:ext cx="9144000" cy="6096000"/>
          </a:xfrm>
          <a:prstGeom prst="rect">
            <a:avLst/>
          </a:prstGeom>
        </p:spPr>
      </p:pic>
    </p:spTree>
    <p:extLst>
      <p:ext uri="{BB962C8B-B14F-4D97-AF65-F5344CB8AC3E}">
        <p14:creationId xmlns:p14="http://schemas.microsoft.com/office/powerpoint/2010/main" val="17840979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Hand-Drawn Stock Market UML Pipeline">
            <a:extLst>
              <a:ext uri="{FF2B5EF4-FFF2-40B4-BE49-F238E27FC236}">
                <a16:creationId xmlns:a16="http://schemas.microsoft.com/office/drawing/2014/main" id="{240D34B3-3B6A-361C-54B2-ECC808B8396F}"/>
              </a:ext>
            </a:extLst>
          </p:cNvPr>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7967755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1EB3E-7DD8-C3CC-C7C1-5D3074C9DA1F}"/>
              </a:ext>
            </a:extLst>
          </p:cNvPr>
          <p:cNvSpPr>
            <a:spLocks noGrp="1"/>
          </p:cNvSpPr>
          <p:nvPr>
            <p:ph type="title"/>
          </p:nvPr>
        </p:nvSpPr>
        <p:spPr/>
        <p:txBody>
          <a:bodyPr>
            <a:normAutofit/>
          </a:bodyPr>
          <a:lstStyle/>
          <a:p>
            <a:r>
              <a:rPr lang="en-IN" sz="3200" b="1" dirty="0">
                <a:solidFill>
                  <a:srgbClr val="0070C0"/>
                </a:solidFill>
                <a:latin typeface="Times New Roman" panose="02020603050405020304" pitchFamily="18" charset="0"/>
                <a:cs typeface="Times New Roman" panose="02020603050405020304" pitchFamily="18" charset="0"/>
              </a:rPr>
              <a:t>Methodology, System Design and Architecture</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49D2B6D-9C00-5991-8653-78CDA25E2CED}"/>
              </a:ext>
            </a:extLst>
          </p:cNvPr>
          <p:cNvSpPr>
            <a:spLocks noGrp="1"/>
          </p:cNvSpPr>
          <p:nvPr>
            <p:ph idx="1"/>
          </p:nvPr>
        </p:nvSpPr>
        <p:spPr>
          <a:xfrm>
            <a:off x="609600" y="1417638"/>
            <a:ext cx="8229600" cy="5059362"/>
          </a:xfrm>
        </p:spPr>
        <p:txBody>
          <a:bodyPr>
            <a:noAutofit/>
          </a:bodyPr>
          <a:lstStyle/>
          <a:p>
            <a:pPr marL="0" indent="0">
              <a:buNone/>
            </a:pPr>
            <a:r>
              <a:rPr lang="en-IN" sz="2000" dirty="0">
                <a:latin typeface="Times New Roman" panose="02020603050405020304" pitchFamily="18" charset="0"/>
                <a:cs typeface="Times New Roman" panose="02020603050405020304" pitchFamily="18" charset="0"/>
              </a:rPr>
              <a:t>The Stock Market Data Pipeline begins by collecting stock market data from reliable data sources such as financial APIs or historical datasets. The collected data generally contains information such as stock symbol, date, opening price, highest price, lowest price, closing price, and trading volume. This raw data is then passed through preprocessing, where missing, duplicate, and inconsistent records are identified and handled. The data is converted into a consistent and structured format so that it can be used effectively for further analysis.</a:t>
            </a:r>
          </a:p>
          <a:p>
            <a:pPr marL="0" indent="0">
              <a:buNone/>
            </a:pPr>
            <a:r>
              <a:rPr lang="en-IN" sz="2000" dirty="0">
                <a:latin typeface="Times New Roman" panose="02020603050405020304" pitchFamily="18" charset="0"/>
                <a:cs typeface="Times New Roman" panose="02020603050405020304" pitchFamily="18" charset="0"/>
              </a:rPr>
              <a:t>After preprocessing, the cleaned data is transformed into a suitable format for analysis. Different features such as price changes, returns, moving averages, and trading-volume patterns can be derived from the available data. The transformed data is then stored in a structured database or file system for efficient access. Finally, the processed stock market data is </a:t>
            </a:r>
            <a:r>
              <a:rPr lang="en-IN" sz="2000" dirty="0" err="1">
                <a:latin typeface="Times New Roman" panose="02020603050405020304" pitchFamily="18" charset="0"/>
                <a:cs typeface="Times New Roman" panose="02020603050405020304" pitchFamily="18" charset="0"/>
              </a:rPr>
              <a:t>analyzed</a:t>
            </a:r>
            <a:r>
              <a:rPr lang="en-IN" sz="2000" dirty="0">
                <a:latin typeface="Times New Roman" panose="02020603050405020304" pitchFamily="18" charset="0"/>
                <a:cs typeface="Times New Roman" panose="02020603050405020304" pitchFamily="18" charset="0"/>
              </a:rPr>
              <a:t> to identify price movements, trends, and market patterns, and the results are presented through visualizations and dashboards.</a:t>
            </a:r>
          </a:p>
          <a:p>
            <a:pPr marL="0" indent="0">
              <a:buNone/>
            </a:pP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81329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C5C4C0-0DA5-325E-F160-553B46C98BDE}"/>
              </a:ext>
            </a:extLst>
          </p:cNvPr>
          <p:cNvSpPr txBox="1"/>
          <p:nvPr/>
        </p:nvSpPr>
        <p:spPr>
          <a:xfrm>
            <a:off x="152400" y="197346"/>
            <a:ext cx="4572000" cy="738664"/>
          </a:xfrm>
          <a:prstGeom prst="rect">
            <a:avLst/>
          </a:prstGeom>
          <a:noFill/>
        </p:spPr>
        <p:txBody>
          <a:bodyPr wrap="square">
            <a:spAutoFit/>
          </a:bodyPr>
          <a:lstStyle/>
          <a:p>
            <a:pPr>
              <a:buNone/>
            </a:pPr>
            <a:r>
              <a:rPr lang="en-IN" sz="2400" b="1" dirty="0">
                <a:solidFill>
                  <a:schemeClr val="accent1"/>
                </a:solidFill>
              </a:rPr>
              <a:t>System Architecture</a:t>
            </a:r>
          </a:p>
          <a:p>
            <a:pPr>
              <a:buNone/>
            </a:pPr>
            <a:endParaRPr lang="en-IN" dirty="0"/>
          </a:p>
        </p:txBody>
      </p:sp>
      <p:pic>
        <p:nvPicPr>
          <p:cNvPr id="4" name="Picture 3">
            <a:extLst>
              <a:ext uri="{FF2B5EF4-FFF2-40B4-BE49-F238E27FC236}">
                <a16:creationId xmlns:a16="http://schemas.microsoft.com/office/drawing/2014/main" id="{C4F80FCA-C1DE-58D1-03F2-38A8503D9900}"/>
              </a:ext>
            </a:extLst>
          </p:cNvPr>
          <p:cNvPicPr>
            <a:picLocks noChangeAspect="1"/>
          </p:cNvPicPr>
          <p:nvPr/>
        </p:nvPicPr>
        <p:blipFill>
          <a:blip r:embed="rId2"/>
          <a:stretch>
            <a:fillRect/>
          </a:stretch>
        </p:blipFill>
        <p:spPr>
          <a:xfrm>
            <a:off x="-21021" y="762000"/>
            <a:ext cx="9144000" cy="5539799"/>
          </a:xfrm>
          <a:prstGeom prst="rect">
            <a:avLst/>
          </a:prstGeom>
        </p:spPr>
      </p:pic>
    </p:spTree>
    <p:extLst>
      <p:ext uri="{BB962C8B-B14F-4D97-AF65-F5344CB8AC3E}">
        <p14:creationId xmlns:p14="http://schemas.microsoft.com/office/powerpoint/2010/main" val="11417884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67467-05AB-B845-2028-E55BF36A04DE}"/>
              </a:ext>
            </a:extLst>
          </p:cNvPr>
          <p:cNvSpPr>
            <a:spLocks noGrp="1"/>
          </p:cNvSpPr>
          <p:nvPr>
            <p:ph type="title"/>
          </p:nvPr>
        </p:nvSpPr>
        <p:spPr/>
        <p:txBody>
          <a:bodyPr>
            <a:normAutofit/>
          </a:bodyPr>
          <a:lstStyle/>
          <a:p>
            <a:r>
              <a:rPr lang="en-IN" sz="3600" b="1" dirty="0">
                <a:solidFill>
                  <a:srgbClr val="0070C0"/>
                </a:solidFill>
                <a:latin typeface="Times New Roman" panose="02020603050405020304" pitchFamily="18" charset="0"/>
                <a:cs typeface="Times New Roman" panose="02020603050405020304" pitchFamily="18" charset="0"/>
              </a:rPr>
              <a:t>Use of Modern Tools and Technologies</a:t>
            </a:r>
            <a:endParaRPr lang="en-IN" dirty="0"/>
          </a:p>
        </p:txBody>
      </p:sp>
      <p:sp>
        <p:nvSpPr>
          <p:cNvPr id="3" name="Content Placeholder 2">
            <a:extLst>
              <a:ext uri="{FF2B5EF4-FFF2-40B4-BE49-F238E27FC236}">
                <a16:creationId xmlns:a16="http://schemas.microsoft.com/office/drawing/2014/main" id="{EA805E7B-B921-10BA-2C44-866BCA50CFD8}"/>
              </a:ext>
            </a:extLst>
          </p:cNvPr>
          <p:cNvSpPr>
            <a:spLocks noGrp="1"/>
          </p:cNvSpPr>
          <p:nvPr>
            <p:ph idx="1"/>
          </p:nvPr>
        </p:nvSpPr>
        <p:spPr>
          <a:xfrm>
            <a:off x="838200" y="1676400"/>
            <a:ext cx="8229600" cy="4525963"/>
          </a:xfrm>
        </p:spPr>
        <p:txBody>
          <a:bodyPr>
            <a:noAutofit/>
          </a:bodyPr>
          <a:lstStyle/>
          <a:p>
            <a:r>
              <a:rPr lang="en-IN" sz="1800" b="1" dirty="0">
                <a:latin typeface="Times New Roman" panose="02020603050405020304" pitchFamily="18" charset="0"/>
                <a:cs typeface="Times New Roman" panose="02020603050405020304" pitchFamily="18" charset="0"/>
              </a:rPr>
              <a:t>Technologies Used</a:t>
            </a:r>
          </a:p>
          <a:p>
            <a:r>
              <a:rPr lang="en-IN" sz="1800" b="1" dirty="0">
                <a:latin typeface="Times New Roman" panose="02020603050405020304" pitchFamily="18" charset="0"/>
                <a:cs typeface="Times New Roman" panose="02020603050405020304" pitchFamily="18" charset="0"/>
              </a:rPr>
              <a:t>Python</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Used for data collection, processing, analysis, and pipeline development.</a:t>
            </a:r>
          </a:p>
          <a:p>
            <a:r>
              <a:rPr lang="en-IN" sz="1800" b="1" dirty="0">
                <a:latin typeface="Times New Roman" panose="02020603050405020304" pitchFamily="18" charset="0"/>
                <a:cs typeface="Times New Roman" panose="02020603050405020304" pitchFamily="18" charset="0"/>
              </a:rPr>
              <a:t>Pandas</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Used for data cleaning, manipulation, transformation, and analysis.</a:t>
            </a:r>
          </a:p>
          <a:p>
            <a:r>
              <a:rPr lang="en-IN" sz="1800" b="1" dirty="0">
                <a:latin typeface="Times New Roman" panose="02020603050405020304" pitchFamily="18" charset="0"/>
                <a:cs typeface="Times New Roman" panose="02020603050405020304" pitchFamily="18" charset="0"/>
              </a:rPr>
              <a:t>NumPy</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Used for numerical operations and financial calculations.</a:t>
            </a:r>
          </a:p>
          <a:p>
            <a:r>
              <a:rPr lang="en-IN" sz="1800" b="1" dirty="0">
                <a:latin typeface="Times New Roman" panose="02020603050405020304" pitchFamily="18" charset="0"/>
                <a:cs typeface="Times New Roman" panose="02020603050405020304" pitchFamily="18" charset="0"/>
              </a:rPr>
              <a:t>SQL / Database</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Used to store and retrieve processed stock market data.</a:t>
            </a:r>
          </a:p>
          <a:p>
            <a:r>
              <a:rPr lang="en-IN" sz="1800" b="1" dirty="0">
                <a:latin typeface="Times New Roman" panose="02020603050405020304" pitchFamily="18" charset="0"/>
                <a:cs typeface="Times New Roman" panose="02020603050405020304" pitchFamily="18" charset="0"/>
              </a:rPr>
              <a:t>Matplotlib / </a:t>
            </a:r>
            <a:r>
              <a:rPr lang="en-IN" sz="1800" b="1" dirty="0" err="1">
                <a:latin typeface="Times New Roman" panose="02020603050405020304" pitchFamily="18" charset="0"/>
                <a:cs typeface="Times New Roman" panose="02020603050405020304" pitchFamily="18" charset="0"/>
              </a:rPr>
              <a:t>Plotly</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Used to visualize stock prices, trading volume, and market trends.</a:t>
            </a:r>
          </a:p>
          <a:p>
            <a:r>
              <a:rPr lang="en-IN" sz="1800" b="1" dirty="0">
                <a:latin typeface="Times New Roman" panose="02020603050405020304" pitchFamily="18" charset="0"/>
                <a:cs typeface="Times New Roman" panose="02020603050405020304" pitchFamily="18" charset="0"/>
              </a:rPr>
              <a:t>Jupyter Notebook</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Used for development, experimentation, and testing.</a:t>
            </a:r>
          </a:p>
          <a:p>
            <a:r>
              <a:rPr lang="en-IN" sz="1800" b="1" dirty="0">
                <a:latin typeface="Times New Roman" panose="02020603050405020304" pitchFamily="18" charset="0"/>
                <a:cs typeface="Times New Roman" panose="02020603050405020304" pitchFamily="18" charset="0"/>
              </a:rPr>
              <a:t>Stock Market API</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Used to obtain historical or real-time market data.</a:t>
            </a:r>
          </a:p>
          <a:p>
            <a:pPr marL="0" indent="0">
              <a:buNone/>
            </a:pPr>
            <a:br>
              <a:rPr lang="en-IN" sz="1100" dirty="0">
                <a:latin typeface="Times New Roman" panose="02020603050405020304" pitchFamily="18" charset="0"/>
                <a:cs typeface="Times New Roman" panose="02020603050405020304" pitchFamily="18" charset="0"/>
              </a:rPr>
            </a:br>
            <a:endParaRPr lang="en-IN" sz="1100" dirty="0">
              <a:latin typeface="Times New Roman" panose="02020603050405020304" pitchFamily="18" charset="0"/>
              <a:cs typeface="Times New Roman" panose="02020603050405020304" pitchFamily="18" charset="0"/>
            </a:endParaRPr>
          </a:p>
          <a:p>
            <a:pPr marL="0" indent="0">
              <a:buNone/>
            </a:pPr>
            <a:r>
              <a:rPr lang="en-IN" sz="1100" b="1" dirty="0">
                <a:latin typeface="Times New Roman" panose="02020603050405020304" pitchFamily="18" charset="0"/>
                <a:cs typeface="Times New Roman" panose="02020603050405020304" pitchFamily="18" charset="0"/>
              </a:rPr>
              <a:t> </a:t>
            </a:r>
            <a:r>
              <a:rPr lang="en-IN" sz="1100" dirty="0">
                <a:latin typeface="Times New Roman" panose="02020603050405020304" pitchFamily="18" charset="0"/>
                <a:cs typeface="Times New Roman" panose="02020603050405020304" pitchFamily="18" charset="0"/>
              </a:rPr>
              <a:t> </a:t>
            </a:r>
          </a:p>
          <a:p>
            <a:pPr>
              <a:lnSpc>
                <a:spcPct val="110000"/>
              </a:lnSpc>
            </a:pPr>
            <a:endParaRPr lang="en-IN" sz="1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95710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800923-0DAE-75DF-3113-04EB7BFB8AD8}"/>
              </a:ext>
            </a:extLst>
          </p:cNvPr>
          <p:cNvSpPr txBox="1"/>
          <p:nvPr/>
        </p:nvSpPr>
        <p:spPr>
          <a:xfrm>
            <a:off x="228600" y="228600"/>
            <a:ext cx="8077200" cy="4770537"/>
          </a:xfrm>
          <a:prstGeom prst="rect">
            <a:avLst/>
          </a:prstGeom>
          <a:noFill/>
        </p:spPr>
        <p:txBody>
          <a:bodyPr wrap="square">
            <a:spAutoFit/>
          </a:bodyPr>
          <a:lstStyle/>
          <a:p>
            <a:pPr marL="0" indent="0">
              <a:buNone/>
            </a:pPr>
            <a:r>
              <a:rPr lang="en-IN" sz="2800" b="1" dirty="0">
                <a:solidFill>
                  <a:schemeClr val="accent1"/>
                </a:solidFill>
                <a:latin typeface="Times New Roman" panose="02020603050405020304" pitchFamily="18" charset="0"/>
                <a:cs typeface="Times New Roman" panose="02020603050405020304" pitchFamily="18" charset="0"/>
              </a:rPr>
              <a:t>Benefits</a:t>
            </a:r>
          </a:p>
          <a:p>
            <a:pPr lvl="0"/>
            <a:r>
              <a:rPr lang="en-IN" sz="2000" b="1" dirty="0"/>
              <a:t>Automated Data Processing</a:t>
            </a:r>
            <a:r>
              <a:rPr lang="en-IN" sz="2000" dirty="0"/>
              <a:t> – Reduces manual effort in collecting and processing stock market data. </a:t>
            </a:r>
          </a:p>
          <a:p>
            <a:pPr lvl="0"/>
            <a:r>
              <a:rPr lang="en-IN" sz="2000" b="1" dirty="0"/>
              <a:t>Improved Data Quality</a:t>
            </a:r>
            <a:r>
              <a:rPr lang="en-IN" sz="2000" dirty="0"/>
              <a:t> – Handles missing, duplicate, and inconsistent data. </a:t>
            </a:r>
          </a:p>
          <a:p>
            <a:pPr lvl="0"/>
            <a:r>
              <a:rPr lang="en-IN" sz="2000" b="1" dirty="0"/>
              <a:t>Faster Analysis</a:t>
            </a:r>
            <a:r>
              <a:rPr lang="en-IN" sz="2000" dirty="0"/>
              <a:t> – Processes large amounts of stock market data efficiently. </a:t>
            </a:r>
          </a:p>
          <a:p>
            <a:pPr lvl="0"/>
            <a:r>
              <a:rPr lang="en-IN" sz="2000" b="1" dirty="0"/>
              <a:t>Better Trend Identification</a:t>
            </a:r>
            <a:r>
              <a:rPr lang="en-IN" sz="2000" dirty="0"/>
              <a:t> – Helps identify price movements, market trends, and trading patterns. </a:t>
            </a:r>
          </a:p>
          <a:p>
            <a:pPr lvl="0"/>
            <a:r>
              <a:rPr lang="en-IN" sz="2000" b="1" dirty="0"/>
              <a:t>Easy Visualization</a:t>
            </a:r>
            <a:r>
              <a:rPr lang="en-IN" sz="2000" dirty="0"/>
              <a:t> – Presents stock information through charts and dashboards. </a:t>
            </a:r>
          </a:p>
          <a:p>
            <a:pPr lvl="0"/>
            <a:r>
              <a:rPr lang="en-IN" sz="2000" b="1" dirty="0"/>
              <a:t>Real-Time Monitoring</a:t>
            </a:r>
            <a:r>
              <a:rPr lang="en-IN" sz="2000" dirty="0"/>
              <a:t> – Can support continuous monitoring of market data when connected to live data sources. </a:t>
            </a:r>
          </a:p>
          <a:p>
            <a:pPr lvl="0"/>
            <a:r>
              <a:rPr lang="en-IN" sz="2000" b="1" dirty="0"/>
              <a:t>Data-Driven Decisions</a:t>
            </a:r>
            <a:r>
              <a:rPr lang="en-IN" sz="2000" dirty="0"/>
              <a:t> – Provides useful insights for financial and market analysis</a:t>
            </a:r>
            <a:r>
              <a:rPr lang="en-IN" sz="2800" dirty="0"/>
              <a:t>. </a:t>
            </a:r>
          </a:p>
          <a:p>
            <a:pPr marL="0" indent="0">
              <a:buNone/>
            </a:pP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5899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4F58D-405D-F3E7-CBE1-7EB3240A255C}"/>
              </a:ext>
            </a:extLst>
          </p:cNvPr>
          <p:cNvSpPr>
            <a:spLocks noGrp="1"/>
          </p:cNvSpPr>
          <p:nvPr>
            <p:ph type="title"/>
          </p:nvPr>
        </p:nvSpPr>
        <p:spPr>
          <a:xfrm>
            <a:off x="457200" y="228600"/>
            <a:ext cx="8229600" cy="1143000"/>
          </a:xfrm>
        </p:spPr>
        <p:txBody>
          <a:bodyPr>
            <a:normAutofit fontScale="90000"/>
          </a:bodyPr>
          <a:lstStyle/>
          <a:p>
            <a:r>
              <a:rPr lang="en-IN" sz="3600" b="1" dirty="0">
                <a:solidFill>
                  <a:srgbClr val="0070C0"/>
                </a:solidFill>
                <a:latin typeface="Times New Roman" panose="02020603050405020304" pitchFamily="18" charset="0"/>
                <a:cs typeface="Times New Roman" panose="02020603050405020304" pitchFamily="18" charset="0"/>
              </a:rPr>
              <a:t>Implementation, Coding Quality </a:t>
            </a:r>
            <a:br>
              <a:rPr lang="en-IN" sz="3600" b="1" dirty="0">
                <a:solidFill>
                  <a:srgbClr val="0070C0"/>
                </a:solidFill>
                <a:latin typeface="Times New Roman" panose="02020603050405020304" pitchFamily="18" charset="0"/>
                <a:cs typeface="Times New Roman" panose="02020603050405020304" pitchFamily="18" charset="0"/>
              </a:rPr>
            </a:br>
            <a:r>
              <a:rPr lang="en-IN" sz="3600" b="1" dirty="0">
                <a:solidFill>
                  <a:srgbClr val="0070C0"/>
                </a:solidFill>
                <a:latin typeface="Times New Roman" panose="02020603050405020304" pitchFamily="18" charset="0"/>
                <a:cs typeface="Times New Roman" panose="02020603050405020304" pitchFamily="18" charset="0"/>
              </a:rPr>
              <a:t>and Functionality</a:t>
            </a:r>
            <a:endParaRPr lang="en-IN" dirty="0"/>
          </a:p>
        </p:txBody>
      </p:sp>
      <p:sp>
        <p:nvSpPr>
          <p:cNvPr id="3" name="Content Placeholder 2">
            <a:extLst>
              <a:ext uri="{FF2B5EF4-FFF2-40B4-BE49-F238E27FC236}">
                <a16:creationId xmlns:a16="http://schemas.microsoft.com/office/drawing/2014/main" id="{19C07D52-529F-A193-175F-53129AEEDBB5}"/>
              </a:ext>
            </a:extLst>
          </p:cNvPr>
          <p:cNvSpPr>
            <a:spLocks noGrp="1"/>
          </p:cNvSpPr>
          <p:nvPr>
            <p:ph idx="1"/>
          </p:nvPr>
        </p:nvSpPr>
        <p:spPr>
          <a:xfrm>
            <a:off x="911679" y="1371600"/>
            <a:ext cx="8229600" cy="4525963"/>
          </a:xfrm>
        </p:spPr>
        <p:txBody>
          <a:bodyPr>
            <a:noAutofit/>
          </a:bodyPr>
          <a:lstStyle/>
          <a:p>
            <a:r>
              <a:rPr lang="en-IN" b="1" dirty="0">
                <a:latin typeface="Times New Roman" panose="02020603050405020304" pitchFamily="18" charset="0"/>
                <a:cs typeface="Times New Roman" panose="02020603050405020304" pitchFamily="18" charset="0"/>
              </a:rPr>
              <a:t>Implementation</a:t>
            </a:r>
          </a:p>
          <a:p>
            <a:pPr lvl="0"/>
            <a:r>
              <a:rPr lang="en-IN" dirty="0">
                <a:latin typeface="Times New Roman" panose="02020603050405020304" pitchFamily="18" charset="0"/>
                <a:cs typeface="Times New Roman" panose="02020603050405020304" pitchFamily="18" charset="0"/>
              </a:rPr>
              <a:t>Develop the stock market data pipeline. </a:t>
            </a:r>
          </a:p>
          <a:p>
            <a:pPr lvl="0"/>
            <a:r>
              <a:rPr lang="en-IN" dirty="0">
                <a:latin typeface="Times New Roman" panose="02020603050405020304" pitchFamily="18" charset="0"/>
                <a:cs typeface="Times New Roman" panose="02020603050405020304" pitchFamily="18" charset="0"/>
              </a:rPr>
              <a:t>Collect stock market data from an API/data source. </a:t>
            </a:r>
          </a:p>
          <a:p>
            <a:pPr lvl="0"/>
            <a:r>
              <a:rPr lang="en-IN" dirty="0">
                <a:latin typeface="Times New Roman" panose="02020603050405020304" pitchFamily="18" charset="0"/>
                <a:cs typeface="Times New Roman" panose="02020603050405020304" pitchFamily="18" charset="0"/>
              </a:rPr>
              <a:t>Store raw market data. </a:t>
            </a:r>
          </a:p>
          <a:p>
            <a:pPr lvl="0"/>
            <a:r>
              <a:rPr lang="en-IN" dirty="0">
                <a:latin typeface="Times New Roman" panose="02020603050405020304" pitchFamily="18" charset="0"/>
                <a:cs typeface="Times New Roman" panose="02020603050405020304" pitchFamily="18" charset="0"/>
              </a:rPr>
              <a:t>Clean missing and inconsistent records. </a:t>
            </a:r>
          </a:p>
          <a:p>
            <a:pPr lvl="0"/>
            <a:r>
              <a:rPr lang="en-IN" dirty="0">
                <a:latin typeface="Times New Roman" panose="02020603050405020304" pitchFamily="18" charset="0"/>
                <a:cs typeface="Times New Roman" panose="02020603050405020304" pitchFamily="18" charset="0"/>
              </a:rPr>
              <a:t>Transform the collected data. </a:t>
            </a:r>
          </a:p>
          <a:p>
            <a:pPr lvl="0"/>
            <a:r>
              <a:rPr lang="en-IN" dirty="0">
                <a:latin typeface="Times New Roman" panose="02020603050405020304" pitchFamily="18" charset="0"/>
                <a:cs typeface="Times New Roman" panose="02020603050405020304" pitchFamily="18" charset="0"/>
              </a:rPr>
              <a:t>Calculate useful market indicators. </a:t>
            </a:r>
          </a:p>
          <a:p>
            <a:pPr lvl="0"/>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stock price and volume trends. </a:t>
            </a:r>
          </a:p>
          <a:p>
            <a:pPr lvl="0"/>
            <a:r>
              <a:rPr lang="en-IN" dirty="0">
                <a:latin typeface="Times New Roman" panose="02020603050405020304" pitchFamily="18" charset="0"/>
                <a:cs typeface="Times New Roman" panose="02020603050405020304" pitchFamily="18" charset="0"/>
              </a:rPr>
              <a:t>Generate charts and visualizations. </a:t>
            </a:r>
          </a:p>
          <a:p>
            <a:pPr lvl="0"/>
            <a:r>
              <a:rPr lang="en-IN" dirty="0">
                <a:latin typeface="Times New Roman" panose="02020603050405020304" pitchFamily="18" charset="0"/>
                <a:cs typeface="Times New Roman" panose="02020603050405020304" pitchFamily="18" charset="0"/>
              </a:rPr>
              <a:t>Display processed information through a dashboard.</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16941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991BD05-9D83-6493-8885-4867828974D6}"/>
              </a:ext>
            </a:extLst>
          </p:cNvPr>
          <p:cNvSpPr txBox="1"/>
          <p:nvPr/>
        </p:nvSpPr>
        <p:spPr>
          <a:xfrm>
            <a:off x="457200" y="304800"/>
            <a:ext cx="7391400" cy="5447645"/>
          </a:xfrm>
          <a:prstGeom prst="rect">
            <a:avLst/>
          </a:prstGeom>
          <a:noFill/>
        </p:spPr>
        <p:txBody>
          <a:bodyPr wrap="square">
            <a:spAutoFit/>
          </a:bodyPr>
          <a:lstStyle/>
          <a:p>
            <a:pPr>
              <a:buNone/>
            </a:pPr>
            <a:r>
              <a:rPr lang="en-IN" sz="2800" b="1" dirty="0">
                <a:solidFill>
                  <a:schemeClr val="accent1"/>
                </a:solidFill>
                <a:latin typeface="Times New Roman" panose="02020603050405020304" pitchFamily="18" charset="0"/>
                <a:cs typeface="Times New Roman" panose="02020603050405020304" pitchFamily="18" charset="0"/>
              </a:rPr>
              <a:t>Coding Quality</a:t>
            </a:r>
          </a:p>
          <a:p>
            <a:pPr marL="342900" lvl="0" indent="-3429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Simple and structured implementation. </a:t>
            </a:r>
          </a:p>
          <a:p>
            <a:pPr marL="342900" lvl="0" indent="-3429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Modular pipeline components. </a:t>
            </a:r>
          </a:p>
          <a:p>
            <a:pPr marL="342900" lvl="0" indent="-3429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Clear and understandable Python code. </a:t>
            </a:r>
          </a:p>
          <a:p>
            <a:pPr marL="342900" lvl="0" indent="-3429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Proper data preprocessing. </a:t>
            </a:r>
          </a:p>
          <a:p>
            <a:pPr marL="342900" lvl="0" indent="-3429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Efficient data handling. </a:t>
            </a:r>
          </a:p>
          <a:p>
            <a:pPr marL="342900" lvl="0" indent="-3429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Error handling for missing or invalid data. </a:t>
            </a:r>
          </a:p>
          <a:p>
            <a:pPr marL="342900" lvl="0" indent="-3429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Reusable functions for different stocks. </a:t>
            </a:r>
          </a:p>
          <a:p>
            <a:pPr marL="342900" lvl="0" indent="-3429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Maintainable and scalable implementation.</a:t>
            </a:r>
          </a:p>
        </p:txBody>
      </p:sp>
    </p:spTree>
    <p:extLst>
      <p:ext uri="{BB962C8B-B14F-4D97-AF65-F5344CB8AC3E}">
        <p14:creationId xmlns:p14="http://schemas.microsoft.com/office/powerpoint/2010/main" val="27696920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C58BCE-066C-C169-867E-12399A3CB5E8}"/>
              </a:ext>
            </a:extLst>
          </p:cNvPr>
          <p:cNvSpPr txBox="1"/>
          <p:nvPr/>
        </p:nvSpPr>
        <p:spPr>
          <a:xfrm>
            <a:off x="152400" y="533400"/>
            <a:ext cx="7848600" cy="5386090"/>
          </a:xfrm>
          <a:prstGeom prst="rect">
            <a:avLst/>
          </a:prstGeom>
          <a:noFill/>
        </p:spPr>
        <p:txBody>
          <a:bodyPr wrap="square">
            <a:spAutoFit/>
          </a:bodyPr>
          <a:lstStyle/>
          <a:p>
            <a:pPr>
              <a:buNone/>
            </a:pPr>
            <a:r>
              <a:rPr lang="en-IN" sz="3600" b="1" dirty="0">
                <a:solidFill>
                  <a:schemeClr val="accent1"/>
                </a:solidFill>
                <a:latin typeface="Times New Roman" panose="02020603050405020304" pitchFamily="18" charset="0"/>
                <a:cs typeface="Times New Roman" panose="02020603050405020304" pitchFamily="18" charset="0"/>
              </a:rPr>
              <a:t>Functionality</a:t>
            </a:r>
          </a:p>
          <a:p>
            <a:pPr>
              <a:buNone/>
            </a:pPr>
            <a:r>
              <a:rPr lang="en-IN" sz="2800" dirty="0"/>
              <a:t>The Stock Market Data Pipeline collects and processes financial market data and converts raw information into a structured dataset suitable for analysis. It performs data cleaning and transformation before storing the processed information. The system can </a:t>
            </a:r>
            <a:r>
              <a:rPr lang="en-IN" sz="2800" dirty="0" err="1"/>
              <a:t>analyze</a:t>
            </a:r>
            <a:r>
              <a:rPr lang="en-IN" sz="2800" dirty="0"/>
              <a:t> stock prices and trading volumes to identify important trends and patterns. The final results are presented using visualizations or a dashboard, allowing users to easily understand stock market movements and obtain useful insights.</a:t>
            </a:r>
            <a:endParaRPr lang="en-IN" sz="2800" b="1"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44840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72D1E8B-6053-F49F-C417-E3F16E347079}"/>
              </a:ext>
            </a:extLst>
          </p:cNvPr>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25954369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7EB7CC7-8AE8-3867-0657-C457FA7E6DCB}"/>
              </a:ext>
            </a:extLst>
          </p:cNvPr>
          <p:cNvPicPr>
            <a:picLocks noChangeAspect="1"/>
          </p:cNvPicPr>
          <p:nvPr/>
        </p:nvPicPr>
        <p:blipFill>
          <a:blip r:embed="rId2"/>
          <a:stretch>
            <a:fillRect/>
          </a:stretch>
        </p:blipFill>
        <p:spPr>
          <a:xfrm>
            <a:off x="0" y="0"/>
            <a:ext cx="9067800" cy="6858000"/>
          </a:xfrm>
          <a:prstGeom prst="rect">
            <a:avLst/>
          </a:prstGeom>
        </p:spPr>
      </p:pic>
    </p:spTree>
    <p:extLst>
      <p:ext uri="{BB962C8B-B14F-4D97-AF65-F5344CB8AC3E}">
        <p14:creationId xmlns:p14="http://schemas.microsoft.com/office/powerpoint/2010/main" val="42795486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37990B0-82A5-0607-7A07-C6FBE1A63813}"/>
              </a:ext>
            </a:extLst>
          </p:cNvPr>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1585593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A36BF47-098A-054D-B783-EBEA9A1E06A4}"/>
              </a:ext>
            </a:extLst>
          </p:cNvPr>
          <p:cNvSpPr txBox="1"/>
          <p:nvPr/>
        </p:nvSpPr>
        <p:spPr>
          <a:xfrm>
            <a:off x="215463" y="207502"/>
            <a:ext cx="4572000" cy="461665"/>
          </a:xfrm>
          <a:prstGeom prst="rect">
            <a:avLst/>
          </a:prstGeom>
          <a:noFill/>
        </p:spPr>
        <p:txBody>
          <a:bodyPr wrap="square">
            <a:spAutoFit/>
          </a:bodyPr>
          <a:lstStyle/>
          <a:p>
            <a:r>
              <a:rPr lang="en-IN" sz="2400" dirty="0">
                <a:solidFill>
                  <a:schemeClr val="accent1"/>
                </a:solidFill>
                <a:latin typeface="Times New Roman" panose="02020603050405020304" pitchFamily="18" charset="0"/>
                <a:cs typeface="Times New Roman" panose="02020603050405020304" pitchFamily="18" charset="0"/>
              </a:rPr>
              <a:t>OUTPUT AND RESULTS</a:t>
            </a:r>
          </a:p>
        </p:txBody>
      </p:sp>
      <p:pic>
        <p:nvPicPr>
          <p:cNvPr id="2" name="Picture 1">
            <a:extLst>
              <a:ext uri="{FF2B5EF4-FFF2-40B4-BE49-F238E27FC236}">
                <a16:creationId xmlns:a16="http://schemas.microsoft.com/office/drawing/2014/main" id="{A39A1A1A-BAA4-BD66-3AAB-3423C6AB021F}"/>
              </a:ext>
            </a:extLst>
          </p:cNvPr>
          <p:cNvPicPr>
            <a:picLocks noChangeAspect="1"/>
          </p:cNvPicPr>
          <p:nvPr/>
        </p:nvPicPr>
        <p:blipFill>
          <a:blip r:embed="rId2"/>
          <a:stretch>
            <a:fillRect/>
          </a:stretch>
        </p:blipFill>
        <p:spPr>
          <a:xfrm>
            <a:off x="0" y="990600"/>
            <a:ext cx="9144000" cy="5867400"/>
          </a:xfrm>
          <a:prstGeom prst="rect">
            <a:avLst/>
          </a:prstGeom>
        </p:spPr>
      </p:pic>
    </p:spTree>
    <p:extLst>
      <p:ext uri="{BB962C8B-B14F-4D97-AF65-F5344CB8AC3E}">
        <p14:creationId xmlns:p14="http://schemas.microsoft.com/office/powerpoint/2010/main" val="17224869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3899A03-D522-36E0-4176-D896A59D51D4}"/>
              </a:ext>
            </a:extLst>
          </p:cNvPr>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26939109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6E39554-425B-D627-0335-5464CAB3AE11}"/>
              </a:ext>
            </a:extLst>
          </p:cNvPr>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2146628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6025B9-8FD1-25FE-F0C0-9F98BFEBCBFD}"/>
              </a:ext>
            </a:extLst>
          </p:cNvPr>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36458240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EAF13-EFB2-EE8F-69F0-9FB2889BF01F}"/>
              </a:ext>
            </a:extLst>
          </p:cNvPr>
          <p:cNvSpPr>
            <a:spLocks noGrp="1"/>
          </p:cNvSpPr>
          <p:nvPr>
            <p:ph type="title"/>
          </p:nvPr>
        </p:nvSpPr>
        <p:spPr>
          <a:xfrm>
            <a:off x="304800" y="2362200"/>
            <a:ext cx="8229600" cy="1143000"/>
          </a:xfrm>
        </p:spPr>
        <p:txBody>
          <a:bodyPr>
            <a:normAutofit/>
          </a:bodyPr>
          <a:lstStyle/>
          <a:p>
            <a:r>
              <a:rPr lang="en-IN" sz="4800" dirty="0">
                <a:latin typeface="Times New Roman" panose="02020603050405020304" pitchFamily="18" charset="0"/>
                <a:cs typeface="Times New Roman" panose="02020603050405020304" pitchFamily="18" charset="0"/>
              </a:rPr>
              <a:t>THANKYOU </a:t>
            </a:r>
          </a:p>
        </p:txBody>
      </p:sp>
    </p:spTree>
    <p:extLst>
      <p:ext uri="{BB962C8B-B14F-4D97-AF65-F5344CB8AC3E}">
        <p14:creationId xmlns:p14="http://schemas.microsoft.com/office/powerpoint/2010/main" val="4321102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2882</TotalTime>
  <Words>1740</Words>
  <Application>Microsoft Macintosh PowerPoint</Application>
  <PresentationFormat>On-screen Show (4:3)</PresentationFormat>
  <Paragraphs>165</Paragraphs>
  <Slides>29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Aptos</vt:lpstr>
      <vt:lpstr>Arial</vt:lpstr>
      <vt:lpstr>Calibri</vt:lpstr>
      <vt:lpstr>Times New Roman</vt:lpstr>
      <vt:lpstr>Wingdings</vt:lpstr>
      <vt:lpstr>Office Theme</vt:lpstr>
      <vt:lpstr>        </vt:lpstr>
      <vt:lpstr>Table of contents</vt:lpstr>
      <vt:lpstr>Abstract</vt:lpstr>
      <vt:lpstr> Introduction</vt:lpstr>
      <vt:lpstr>LIMITATIONS OF EXISTING SYSTEM  </vt:lpstr>
      <vt:lpstr>PROPOSED SYSTEM</vt:lpstr>
      <vt:lpstr>Objectives</vt:lpstr>
      <vt:lpstr>PowerPoint Presentation</vt:lpstr>
      <vt:lpstr>SOFTWARE REQUIREMENTS</vt:lpstr>
      <vt:lpstr>HARDWARE REQUIREMENTS</vt:lpstr>
      <vt:lpstr>FUNCTIONAL REQUIREMENTS</vt:lpstr>
      <vt:lpstr>NON FUNCTIONAL REQUIREMENTS</vt:lpstr>
      <vt:lpstr>System Architecture</vt:lpstr>
      <vt:lpstr>PowerPoint Presentation</vt:lpstr>
      <vt:lpstr>Methodology, System Design and Architecture</vt:lpstr>
      <vt:lpstr>PowerPoint Presentation</vt:lpstr>
      <vt:lpstr>Use of Modern Tools and Technologies</vt:lpstr>
      <vt:lpstr>PowerPoint Presentation</vt:lpstr>
      <vt:lpstr>Implementation, Coding Quality  and Functionality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Balusu, Lakshmi Narayana Chowdary (UMKC-Student)</cp:lastModifiedBy>
  <cp:revision>219</cp:revision>
  <dcterms:created xsi:type="dcterms:W3CDTF">2006-08-16T00:00:00Z</dcterms:created>
  <dcterms:modified xsi:type="dcterms:W3CDTF">2026-10-25T15:50:06Z</dcterms:modified>
</cp:coreProperties>
</file>