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86" r:id="rId2"/>
    <p:sldId id="288" r:id="rId3"/>
    <p:sldId id="287" r:id="rId4"/>
    <p:sldId id="289" r:id="rId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008" autoAdjust="0"/>
  </p:normalViewPr>
  <p:slideViewPr>
    <p:cSldViewPr>
      <p:cViewPr varScale="1">
        <p:scale>
          <a:sx n="100" d="100"/>
          <a:sy n="100" d="100"/>
        </p:scale>
        <p:origin x="1864" y="1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10/25/26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10/25/26</a:t>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5425" y="1036792"/>
            <a:ext cx="6153150" cy="176589"/>
          </a:xfrm>
        </p:spPr>
        <p:txBody>
          <a:bodyPr>
            <a:normAutofit fontScale="90000"/>
          </a:bodyPr>
          <a:lstStyle/>
          <a:p>
            <a:pPr>
              <a:defRPr/>
            </a:pP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000" dirty="0">
                <a:latin typeface="Times New Roman" pitchFamily="18" charset="0"/>
                <a:cs typeface="Times New Roman" pitchFamily="18" charset="0"/>
              </a:rPr>
              <a:t>	</a:t>
            </a:r>
            <a:r>
              <a:rPr lang="en-US" sz="2700" b="1" dirty="0">
                <a:solidFill>
                  <a:schemeClr val="accent1"/>
                </a:solidFill>
                <a:latin typeface="Times New Roman" pitchFamily="18" charset="0"/>
                <a:cs typeface="Times New Roman" pitchFamily="18" charset="0"/>
              </a:rPr>
              <a:t>STOCK MARKET DATA PIPELINE</a:t>
            </a:r>
            <a:br>
              <a:rPr lang="en-US" sz="2200" b="1"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b="1" dirty="0"/>
            </a:br>
            <a:endParaRPr lang="en-US" sz="3000" b="1" dirty="0">
              <a:latin typeface="Times New Roman" pitchFamily="18" charset="0"/>
              <a:cs typeface="Times New Roman" pitchFamily="18" charset="0"/>
            </a:endParaRPr>
          </a:p>
        </p:txBody>
      </p:sp>
      <p:sp>
        <p:nvSpPr>
          <p:cNvPr id="3" name="Subtitle 2"/>
          <p:cNvSpPr>
            <a:spLocks noGrp="1"/>
          </p:cNvSpPr>
          <p:nvPr>
            <p:ph type="subTitle" idx="1"/>
          </p:nvPr>
        </p:nvSpPr>
        <p:spPr>
          <a:xfrm>
            <a:off x="1428750" y="1213381"/>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r>
              <a:rPr lang="en-US" sz="8000" b="1" dirty="0">
                <a:solidFill>
                  <a:schemeClr val="tx1"/>
                </a:solidFill>
                <a:latin typeface="Times New Roman" pitchFamily="18" charset="0"/>
                <a:cs typeface="Times New Roman" pitchFamily="18" charset="0"/>
              </a:rPr>
              <a:t>REVIEW – 1</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r>
              <a:rPr lang="en-US" sz="6400" b="1" dirty="0">
                <a:solidFill>
                  <a:schemeClr val="tx1"/>
                </a:solidFill>
                <a:latin typeface="Times New Roman" pitchFamily="18" charset="0"/>
                <a:cs typeface="Times New Roman" pitchFamily="18" charset="0"/>
              </a:rPr>
              <a:t> </a:t>
            </a:r>
            <a:r>
              <a:rPr lang="en-US" sz="7200" b="1" dirty="0">
                <a:solidFill>
                  <a:schemeClr val="tx1"/>
                </a:solidFill>
                <a:latin typeface="Times New Roman" pitchFamily="18" charset="0"/>
                <a:cs typeface="Times New Roman" pitchFamily="18" charset="0"/>
              </a:rPr>
              <a:t>Team members</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l">
              <a:lnSpc>
                <a:spcPct val="80000"/>
              </a:lnSpc>
              <a:defRPr/>
            </a:pPr>
            <a:r>
              <a:rPr lang="en-US" sz="4900" b="1" dirty="0">
                <a:solidFill>
                  <a:schemeClr val="tx1"/>
                </a:solidFill>
                <a:latin typeface="Times New Roman" pitchFamily="18" charset="0"/>
                <a:cs typeface="Times New Roman" pitchFamily="18" charset="0"/>
              </a:rPr>
              <a:t>                                                               </a:t>
            </a:r>
            <a:r>
              <a:rPr lang="en-US" sz="4800" b="1" dirty="0">
                <a:solidFill>
                  <a:schemeClr val="tx1"/>
                </a:solidFill>
                <a:latin typeface="Times New Roman" pitchFamily="18" charset="0"/>
                <a:cs typeface="Times New Roman" pitchFamily="18" charset="0"/>
              </a:rPr>
              <a:t>Roll No             Name</a:t>
            </a:r>
          </a:p>
          <a:p>
            <a:pPr algn="l">
              <a:lnSpc>
                <a:spcPct val="80000"/>
              </a:lnSpc>
              <a:defRPr/>
            </a:pP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2420030592     </a:t>
            </a:r>
            <a:r>
              <a:rPr lang="en-US" sz="4800" dirty="0" err="1">
                <a:solidFill>
                  <a:schemeClr val="tx1"/>
                </a:solidFill>
                <a:latin typeface="Times New Roman" pitchFamily="18" charset="0"/>
                <a:cs typeface="Times New Roman" pitchFamily="18" charset="0"/>
              </a:rPr>
              <a:t>J.Kumudavalli</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2420030415     </a:t>
            </a:r>
            <a:r>
              <a:rPr lang="en-US" sz="4800" dirty="0" err="1">
                <a:solidFill>
                  <a:schemeClr val="tx1"/>
                </a:solidFill>
                <a:latin typeface="Times New Roman" pitchFamily="18" charset="0"/>
                <a:cs typeface="Times New Roman" pitchFamily="18" charset="0"/>
              </a:rPr>
              <a:t>G.Rithwik</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2420090113     </a:t>
            </a:r>
            <a:r>
              <a:rPr lang="en-US" sz="4800" dirty="0" err="1">
                <a:solidFill>
                  <a:schemeClr val="tx1"/>
                </a:solidFill>
                <a:latin typeface="Times New Roman" pitchFamily="18" charset="0"/>
                <a:cs typeface="Times New Roman" pitchFamily="18" charset="0"/>
              </a:rPr>
              <a:t>T.Ram</a:t>
            </a:r>
            <a:r>
              <a:rPr lang="en-US" sz="4800" dirty="0">
                <a:solidFill>
                  <a:schemeClr val="tx1"/>
                </a:solidFill>
                <a:latin typeface="Times New Roman" pitchFamily="18" charset="0"/>
                <a:cs typeface="Times New Roman" pitchFamily="18" charset="0"/>
              </a:rPr>
              <a:t> Tejaswi Reddy</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Dr. Nalla Shirisha</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1371600" y="511509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3080" y="4175313"/>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53BB-F2D9-5981-3911-E3CD62AA894A}"/>
              </a:ext>
            </a:extLst>
          </p:cNvPr>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CF031362-F3B1-87A9-8AC6-43B4226021DE}"/>
              </a:ext>
            </a:extLst>
          </p:cNvPr>
          <p:cNvSpPr>
            <a:spLocks noGrp="1"/>
          </p:cNvSpPr>
          <p:nvPr>
            <p:ph idx="1"/>
          </p:nvPr>
        </p:nvSpPr>
        <p:spPr>
          <a:xfrm>
            <a:off x="457200" y="1943893"/>
            <a:ext cx="8229600" cy="4525963"/>
          </a:xfrm>
        </p:spPr>
        <p:txBody>
          <a:bodyPr/>
          <a:lstStyle/>
          <a:p>
            <a:r>
              <a:rPr lang="en-IN" sz="1800" dirty="0">
                <a:latin typeface="Times New Roman" panose="02020603050405020304" pitchFamily="18" charset="0"/>
                <a:cs typeface="Times New Roman" panose="02020603050405020304" pitchFamily="18" charset="0"/>
              </a:rPr>
              <a:t>Abstract</a:t>
            </a:r>
          </a:p>
          <a:p>
            <a:r>
              <a:rPr lang="en-IN" sz="1800" dirty="0">
                <a:latin typeface="Times New Roman" panose="02020603050405020304" pitchFamily="18" charset="0"/>
                <a:cs typeface="Times New Roman" panose="02020603050405020304" pitchFamily="18" charset="0"/>
              </a:rPr>
              <a:t>Introduction</a:t>
            </a:r>
          </a:p>
          <a:p>
            <a:r>
              <a:rPr lang="en-IN" sz="1800" dirty="0">
                <a:latin typeface="Times New Roman" panose="02020603050405020304" pitchFamily="18" charset="0"/>
                <a:cs typeface="Times New Roman" panose="02020603050405020304" pitchFamily="18" charset="0"/>
              </a:rPr>
              <a:t>Objectives</a:t>
            </a:r>
          </a:p>
          <a:p>
            <a:r>
              <a:rPr lang="en-IN" sz="1800" dirty="0">
                <a:latin typeface="Times New Roman" panose="02020603050405020304" pitchFamily="18" charset="0"/>
                <a:cs typeface="Times New Roman" panose="02020603050405020304" pitchFamily="18" charset="0"/>
              </a:rPr>
              <a:t>Literature Survey</a:t>
            </a:r>
          </a:p>
          <a:p>
            <a:r>
              <a:rPr lang="en-IN" sz="1800" dirty="0">
                <a:latin typeface="Times New Roman" panose="02020603050405020304" pitchFamily="18" charset="0"/>
                <a:cs typeface="Times New Roman" panose="02020603050405020304" pitchFamily="18" charset="0"/>
              </a:rPr>
              <a:t>Implementation</a:t>
            </a:r>
          </a:p>
          <a:p>
            <a:r>
              <a:rPr lang="en-IN" sz="1800" dirty="0">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9BBE1ED-9619-00CD-BD74-A2BF998CD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710676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B172-09E0-EBC3-DE45-99E37BDA01FD}"/>
              </a:ext>
            </a:extLst>
          </p:cNvPr>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0EE91A77-D011-DA9A-7E65-578A3E30E6DE}"/>
              </a:ext>
            </a:extLst>
          </p:cNvPr>
          <p:cNvSpPr>
            <a:spLocks noGrp="1"/>
          </p:cNvSpPr>
          <p:nvPr>
            <p:ph idx="1"/>
          </p:nvPr>
        </p:nvSpPr>
        <p:spPr>
          <a:xfrm>
            <a:off x="457200" y="1435706"/>
            <a:ext cx="8229600" cy="4525963"/>
          </a:xfrm>
        </p:spPr>
        <p:txBody>
          <a:bodyPr>
            <a:normAutofit fontScale="85000" lnSpcReduction="10000"/>
          </a:bodyPr>
          <a:lstStyle/>
          <a:p>
            <a:r>
              <a:rPr lang="en-US" dirty="0"/>
              <a:t>The </a:t>
            </a:r>
            <a:r>
              <a:rPr lang="en-US" b="1" dirty="0"/>
              <a:t>Stock Market Data Pipeline</a:t>
            </a:r>
            <a:r>
              <a:rPr lang="en-US" dirty="0"/>
              <a:t> is a data engineering project designed to collect, process, transform, store, and analyze stock market data efficiently. Stock market information such as stock prices, trading volume, opening price, closing price, highest price, and lowest price is generated continuously from financial data sources.</a:t>
            </a:r>
          </a:p>
          <a:p>
            <a:r>
              <a:rPr lang="en-US" dirty="0"/>
              <a:t>The proposed pipeline automatically collects this data using </a:t>
            </a:r>
            <a:r>
              <a:rPr lang="en-US" b="1" dirty="0"/>
              <a:t>Python</a:t>
            </a:r>
            <a:r>
              <a:rPr lang="en-US" dirty="0"/>
              <a:t>, cleans and transforms the raw data, and stores it in a structured database or data warehouse. The processed data can then be used for analysis, visualization, and generating useful insights about stock market performance.</a:t>
            </a:r>
          </a:p>
          <a:p>
            <a:r>
              <a:rPr lang="en-US" dirty="0"/>
              <a:t>The project demonstrates important data engineering concepts such as </a:t>
            </a:r>
            <a:r>
              <a:rPr lang="en-US" b="1" dirty="0"/>
              <a:t>data ingestion, data cleaning, ETL/ELT processing, data transformation, data storage, pipeline automation, and data visualization</a:t>
            </a:r>
            <a:r>
              <a:rPr lang="en-US" dirty="0"/>
              <a:t>. The system can help users monitor historical and current stock information and provide reliable data for further financial analysis.</a:t>
            </a:r>
          </a:p>
          <a:p>
            <a:pPr marL="0" indent="0" algn="just">
              <a:lnSpc>
                <a:spcPct val="110000"/>
              </a:lnSpc>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6ECAE88-2134-CBB1-321C-D23F93B31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24763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1297-D23B-EC58-2AC3-A4D43BD73A07}"/>
              </a:ext>
            </a:extLst>
          </p:cNvPr>
          <p:cNvSpPr>
            <a:spLocks noGrp="1"/>
          </p:cNvSpPr>
          <p:nvPr>
            <p:ph type="title"/>
          </p:nvPr>
        </p:nvSpPr>
        <p:spPr>
          <a:xfrm>
            <a:off x="-19050" y="480219"/>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C410263-6437-6254-84C9-A69F7480C0AE}"/>
              </a:ext>
            </a:extLst>
          </p:cNvPr>
          <p:cNvSpPr>
            <a:spLocks noGrp="1"/>
          </p:cNvSpPr>
          <p:nvPr>
            <p:ph idx="1"/>
          </p:nvPr>
        </p:nvSpPr>
        <p:spPr>
          <a:xfrm>
            <a:off x="228600" y="1066800"/>
            <a:ext cx="8686800" cy="5029200"/>
          </a:xfrm>
        </p:spPr>
        <p:txBody>
          <a:bodyPr>
            <a:noAutofit/>
          </a:bodyPr>
          <a:lstStyle/>
          <a:p>
            <a:r>
              <a:rPr lang="en-US" sz="1800" dirty="0"/>
              <a:t>The stock market generates a huge amount of data every day. Stock exchanges continuously produce information about companies, prices, trading volumes, market movements, and transactions.</a:t>
            </a:r>
          </a:p>
          <a:p>
            <a:r>
              <a:rPr lang="en-US" sz="1800" dirty="0"/>
              <a:t>Raw stock market data may come from different sources and may contain missing values, duplicate records, incorrect formats, or inconsistent timestamps. Therefore, simply collecting the data is not enough. The data must be properly processed before it can be used for analysis.</a:t>
            </a:r>
          </a:p>
          <a:p>
            <a:r>
              <a:rPr lang="en-US" sz="1800" dirty="0"/>
              <a:t>A </a:t>
            </a:r>
            <a:r>
              <a:rPr lang="en-US" sz="1800" b="1" dirty="0"/>
              <a:t>data pipeline</a:t>
            </a:r>
            <a:r>
              <a:rPr lang="en-US" sz="1800" dirty="0"/>
              <a:t> provides a systematic way to move data from its source to a destination where it can be analyzed.</a:t>
            </a:r>
          </a:p>
          <a:p>
            <a:r>
              <a:rPr lang="en-US" sz="1800" dirty="0"/>
              <a:t>The proposed </a:t>
            </a:r>
            <a:r>
              <a:rPr lang="en-US" sz="1800" b="1" dirty="0"/>
              <a:t>Stock Market Data Pipeline</a:t>
            </a:r>
            <a:r>
              <a:rPr lang="en-US" sz="1800" dirty="0"/>
              <a:t> collects stock data from an external financial API or dataset, processes the raw information using Python, performs data cleaning and transformation, and stores the processed information in a database.</a:t>
            </a:r>
          </a:p>
          <a:p>
            <a:r>
              <a:rPr lang="en-US" sz="1800" dirty="0"/>
              <a:t>The pipeline can then provide data to visualization tools such as </a:t>
            </a:r>
            <a:r>
              <a:rPr lang="en-US" sz="1800" b="1" dirty="0"/>
              <a:t>Power BI, Tableau, or Python dashboards</a:t>
            </a:r>
            <a:r>
              <a:rPr lang="en-US" sz="1800" dirty="0"/>
              <a:t>.</a:t>
            </a:r>
          </a:p>
          <a:p>
            <a:r>
              <a:rPr lang="en-US" sz="1800" b="1" dirty="0"/>
              <a:t>Basic Pipeline</a:t>
            </a:r>
          </a:p>
          <a:p>
            <a:r>
              <a:rPr lang="en-US" sz="1800" b="1" dirty="0"/>
              <a:t>Data Source → Data Ingestion → Data Cleaning → Data Transformation → Data Storage → Data Analysis → Visualization</a:t>
            </a:r>
            <a:endParaRPr lang="en-US" sz="1800" dirty="0"/>
          </a:p>
          <a:p>
            <a:r>
              <a:rPr lang="en-US" sz="2000" dirty="0"/>
              <a:t>This approach demonstrates how data engineering techniques can be applied to a real-world financial data problem.</a:t>
            </a:r>
          </a:p>
          <a:p>
            <a:pPr algn="just">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4B7662-4F5B-AB4D-7BC0-F603B3DE2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12658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2709</TotalTime>
  <Words>481</Words>
  <Application>Microsoft Macintosh PowerPoint</Application>
  <PresentationFormat>On-screen Show (4:3)</PresentationFormat>
  <Paragraphs>41</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Calibri</vt:lpstr>
      <vt:lpstr>Times New Roman</vt:lpstr>
      <vt:lpstr>Wingdings</vt:lpstr>
      <vt:lpstr>Office Theme</vt:lpstr>
      <vt:lpstr>     STOCK MARKET DATA PIPELINE      </vt:lpstr>
      <vt:lpstr>Table of contents</vt:lpstr>
      <vt:lpstr>Abstract</vt:lpstr>
      <vt:lpstr> 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Balusu, Lakshmi Narayana Chowdary (UMKC-Student)</cp:lastModifiedBy>
  <cp:revision>211</cp:revision>
  <dcterms:created xsi:type="dcterms:W3CDTF">2006-08-16T00:00:00Z</dcterms:created>
  <dcterms:modified xsi:type="dcterms:W3CDTF">2026-10-25T15:46:09Z</dcterms:modified>
</cp:coreProperties>
</file>